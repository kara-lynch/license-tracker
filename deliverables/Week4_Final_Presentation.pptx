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17"/>
  </p:notesMasterIdLst>
  <p:sldIdLst>
    <p:sldId id="431" r:id="rId2"/>
    <p:sldId id="442" r:id="rId3"/>
    <p:sldId id="444" r:id="rId4"/>
    <p:sldId id="458" r:id="rId5"/>
    <p:sldId id="446" r:id="rId6"/>
    <p:sldId id="448" r:id="rId7"/>
    <p:sldId id="447" r:id="rId8"/>
    <p:sldId id="456" r:id="rId9"/>
    <p:sldId id="457" r:id="rId10"/>
    <p:sldId id="449" r:id="rId11"/>
    <p:sldId id="455" r:id="rId12"/>
    <p:sldId id="451" r:id="rId13"/>
    <p:sldId id="452" r:id="rId14"/>
    <p:sldId id="269" r:id="rId15"/>
    <p:sldId id="45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209859-A32A-E0E8-2CD4-7E6BC18130C0}" v="38" dt="2025-11-06T21:51:01.907"/>
    <p1510:client id="{1D2046F1-4378-1DD1-6D07-CAF7A1038EAA}" v="128" dt="2025-11-06T21:48:47.006"/>
    <p1510:client id="{79F7BEEE-0591-A80D-725F-48782E578415}" v="262" dt="2025-11-07T17:18:06.256"/>
    <p1510:client id="{86172CA2-E17F-CF37-B935-190115109AD0}" v="7" dt="2025-11-07T14:39:54.808"/>
    <p1510:client id="{A47CB92D-9252-30AE-DAEA-3261830211CC}" v="312" dt="2025-11-06T22:01:45.287"/>
    <p1510:client id="{A9D9D373-4EAE-DFBF-562F-8FE6D4576E0B}" v="915" dt="2025-11-06T21:58:34.770"/>
    <p1510:client id="{BE6BAC25-D295-433D-8F7A-2F33D1512CCB}" v="2529" dt="2025-11-07T17:12:26.954"/>
    <p1510:client id="{CCD05A87-F2A1-F68E-A19E-548E9A221183}" v="197" dt="2025-11-07T15:47:51.0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EEB51A-51EA-45CE-BD24-E432A58110C6}"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16C1D-1CD9-4ED8-98CA-581FC1A63DA9}" type="slidenum">
              <a:rPr lang="en-US" smtClean="0"/>
              <a:t>‹#›</a:t>
            </a:fld>
            <a:endParaRPr lang="en-US"/>
          </a:p>
        </p:txBody>
      </p:sp>
    </p:spTree>
    <p:extLst>
      <p:ext uri="{BB962C8B-B14F-4D97-AF65-F5344CB8AC3E}">
        <p14:creationId xmlns:p14="http://schemas.microsoft.com/office/powerpoint/2010/main" val="3552734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Introduction dialogue: Hello, I’m [introduce myself], [Fred introduces himself]. And We are Team Red, meeting with you all today on behalf of Rocket Software. We are here because the Buzzword Software Solutions Compliance Department had come to us with a contract to create a software that assists in the management of licensed external software. Which, we have come to show you. Team Red has created the Software License Tracking System. </a:t>
            </a:r>
            <a:r>
              <a:rPr lang="en-US" sz="1200" b="0" i="0" kern="1200">
                <a:solidFill>
                  <a:schemeClr val="tx1"/>
                </a:solidFill>
                <a:effectLst/>
                <a:latin typeface="+mn-lt"/>
                <a:ea typeface="+mn-ea"/>
                <a:cs typeface="+mn-cs"/>
                <a:sym typeface="Wingdings" panose="05000000000000000000" pitchFamily="2" charset="2"/>
              </a:rPr>
              <a:t> pivot to mission statement.</a:t>
            </a:r>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F0023C18-868B-4526-9322-33740BA2E3CF}" type="slidenum">
              <a:rPr lang="en-US" smtClean="0"/>
              <a:t>1</a:t>
            </a:fld>
            <a:endParaRPr lang="en-US"/>
          </a:p>
        </p:txBody>
      </p:sp>
    </p:spTree>
    <p:extLst>
      <p:ext uri="{BB962C8B-B14F-4D97-AF65-F5344CB8AC3E}">
        <p14:creationId xmlns:p14="http://schemas.microsoft.com/office/powerpoint/2010/main" val="206108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SALTS is a program built for tracking software licenses. Using software with an expired license can incur legal consequences, and paying for software that the organization isn't using is just wasted money, both of which SALTS is intended to prevent.</a:t>
            </a:r>
          </a:p>
        </p:txBody>
      </p:sp>
      <p:sp>
        <p:nvSpPr>
          <p:cNvPr id="4" name="Slide Number Placeholder 3"/>
          <p:cNvSpPr>
            <a:spLocks noGrp="1"/>
          </p:cNvSpPr>
          <p:nvPr>
            <p:ph type="sldNum" sz="quarter" idx="5"/>
          </p:nvPr>
        </p:nvSpPr>
        <p:spPr/>
        <p:txBody>
          <a:bodyPr/>
          <a:lstStyle/>
          <a:p>
            <a:fld id="{F0023C18-868B-4526-9322-33740BA2E3CF}" type="slidenum">
              <a:rPr lang="en-US"/>
              <a:t>2</a:t>
            </a:fld>
            <a:endParaRPr lang="en-US"/>
          </a:p>
        </p:txBody>
      </p:sp>
    </p:spTree>
    <p:extLst>
      <p:ext uri="{BB962C8B-B14F-4D97-AF65-F5344CB8AC3E}">
        <p14:creationId xmlns:p14="http://schemas.microsoft.com/office/powerpoint/2010/main" val="622448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
              <a:buChar char="-"/>
            </a:pPr>
            <a:r>
              <a:rPr lang="en-US"/>
              <a:t>Project made using Python, Web Server will be Flask, DB is MySQL. </a:t>
            </a:r>
          </a:p>
          <a:p>
            <a:pPr marL="285750" indent="-285750">
              <a:buFont typeface="Calibri"/>
              <a:buChar char="-"/>
            </a:pPr>
            <a:r>
              <a:rPr lang="en-US"/>
              <a:t>For our branching strategy, we use dev branches. We each have our own branch we push changes to, then when we were ready for integration we merged our branches into the Integration branch. Once the Integration branch was in a function state, we merged it with Main to indicate a new release.</a:t>
            </a:r>
          </a:p>
        </p:txBody>
      </p:sp>
      <p:sp>
        <p:nvSpPr>
          <p:cNvPr id="4" name="Slide Number Placeholder 3"/>
          <p:cNvSpPr>
            <a:spLocks noGrp="1"/>
          </p:cNvSpPr>
          <p:nvPr>
            <p:ph type="sldNum" sz="quarter" idx="5"/>
          </p:nvPr>
        </p:nvSpPr>
        <p:spPr/>
        <p:txBody>
          <a:bodyPr/>
          <a:lstStyle/>
          <a:p>
            <a:fld id="{3D416C1D-1CD9-4ED8-98CA-581FC1A63DA9}" type="slidenum">
              <a:rPr lang="en-US" smtClean="0"/>
              <a:t>3</a:t>
            </a:fld>
            <a:endParaRPr lang="en-US"/>
          </a:p>
        </p:txBody>
      </p:sp>
    </p:spTree>
    <p:extLst>
      <p:ext uri="{BB962C8B-B14F-4D97-AF65-F5344CB8AC3E}">
        <p14:creationId xmlns:p14="http://schemas.microsoft.com/office/powerpoint/2010/main" val="1774045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A77F8-0F22-1769-3574-FB1B1B641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D2501-99B9-D5C3-35A0-F38BA4990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ACFEF-67F8-E148-069B-67970BDABDE3}"/>
              </a:ext>
            </a:extLst>
          </p:cNvPr>
          <p:cNvSpPr>
            <a:spLocks noGrp="1"/>
          </p:cNvSpPr>
          <p:nvPr>
            <p:ph type="body" idx="1"/>
          </p:nvPr>
        </p:nvSpPr>
        <p:spPr/>
        <p:txBody>
          <a:bodyPr/>
          <a:lstStyle/>
          <a:p>
            <a:pPr marL="285750" indent="-285750">
              <a:buFont typeface="Calibri"/>
              <a:buChar char="-"/>
            </a:pPr>
            <a:r>
              <a:rPr lang="en-US"/>
              <a:t>Our codebase is designed to be as modular as possible, so anyone else can modify their section of the code and things will still work so long as they return the same formatted data. Most of the logging is also within the modules, including high-priority error messages and warnings for things like incomplete fields or failed authentication.</a:t>
            </a:r>
          </a:p>
          <a:p>
            <a:pPr marL="285750" indent="-285750">
              <a:buFont typeface="Calibri"/>
              <a:buChar char="-"/>
            </a:pPr>
            <a:r>
              <a:rPr lang="en-US"/>
              <a:t>API is designed to deal with errors gracefully, so if any piece of the request is missing then the API will return a 400, but if the issue is instead with their token it will return a 401 error.</a:t>
            </a:r>
          </a:p>
          <a:p>
            <a:pPr marL="285750" indent="-285750">
              <a:buFont typeface="Calibri"/>
              <a:buChar char="-"/>
            </a:pPr>
            <a:r>
              <a:rPr lang="en-US"/>
              <a:t>We want to check that the user request is in the right format before contacting the auth server, so we create an object for this specific request type, adding a license, which will be automatically validated to make sure it follows the right format. If it doesn't, 400 error.</a:t>
            </a:r>
          </a:p>
          <a:p>
            <a:pPr marL="285750" indent="-285750">
              <a:buFont typeface="Calibri"/>
              <a:buChar char="-"/>
            </a:pPr>
            <a:r>
              <a:rPr lang="en-US"/>
              <a:t>We then contact the authorization server. If the token can't be authenticated, the returned user credentials are wrong, or the user is employee-level, 401 error.</a:t>
            </a:r>
          </a:p>
          <a:p>
            <a:pPr marL="285750" indent="-285750">
              <a:buFont typeface="Calibri"/>
              <a:buChar char="-"/>
            </a:pPr>
            <a:r>
              <a:rPr lang="en-US"/>
              <a:t>Then we send the credentials and request objects to the DB module which re-validates that the user has the right permissions, then it adds the license using the data from the </a:t>
            </a:r>
            <a:r>
              <a:rPr lang="en-US" err="1"/>
              <a:t>UserRequest</a:t>
            </a:r>
            <a:r>
              <a:rPr lang="en-US"/>
              <a:t> object.</a:t>
            </a:r>
          </a:p>
          <a:p>
            <a:pPr marL="285750" indent="-285750">
              <a:buFont typeface="Calibri"/>
              <a:buChar char="-"/>
            </a:pPr>
            <a:r>
              <a:rPr lang="en-US"/>
              <a:t>If the DB returns that it couldn't add the record, an issue with the user credentials has occurred, so 401 error. If any other exception occurs we give a 400 error, and otherwise we return a message to the user telling them the new record was added.</a:t>
            </a:r>
          </a:p>
          <a:p>
            <a:pPr marL="285750" indent="-285750">
              <a:buFont typeface="Calibri"/>
              <a:buChar char="-"/>
            </a:pPr>
            <a:r>
              <a:rPr lang="en-US"/>
              <a:t>You can see we do logging throughout, especially in the entity classes and modules called by the API, so we can track</a:t>
            </a:r>
          </a:p>
        </p:txBody>
      </p:sp>
      <p:sp>
        <p:nvSpPr>
          <p:cNvPr id="4" name="Slide Number Placeholder 3">
            <a:extLst>
              <a:ext uri="{FF2B5EF4-FFF2-40B4-BE49-F238E27FC236}">
                <a16:creationId xmlns:a16="http://schemas.microsoft.com/office/drawing/2014/main" id="{E7C5A085-CA43-D1D5-6F06-E6B45E29BB0D}"/>
              </a:ext>
            </a:extLst>
          </p:cNvPr>
          <p:cNvSpPr>
            <a:spLocks noGrp="1"/>
          </p:cNvSpPr>
          <p:nvPr>
            <p:ph type="sldNum" sz="quarter" idx="5"/>
          </p:nvPr>
        </p:nvSpPr>
        <p:spPr/>
        <p:txBody>
          <a:bodyPr/>
          <a:lstStyle/>
          <a:p>
            <a:fld id="{3D416C1D-1CD9-4ED8-98CA-581FC1A63DA9}" type="slidenum">
              <a:rPr lang="en-US" smtClean="0"/>
              <a:t>4</a:t>
            </a:fld>
            <a:endParaRPr lang="en-US"/>
          </a:p>
        </p:txBody>
      </p:sp>
    </p:spTree>
    <p:extLst>
      <p:ext uri="{BB962C8B-B14F-4D97-AF65-F5344CB8AC3E}">
        <p14:creationId xmlns:p14="http://schemas.microsoft.com/office/powerpoint/2010/main" val="801470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Separation of Concerns</a:t>
            </a:r>
            <a:r>
              <a:rPr lang="en-US" sz="1200"/>
              <a:t>: DAO keeps database logic separate from business logic, improving modularity and maintainability.</a:t>
            </a:r>
          </a:p>
          <a:p>
            <a:r>
              <a:rPr lang="en-US" sz="1200" b="1"/>
              <a:t>Connection Management: </a:t>
            </a:r>
            <a:r>
              <a:rPr lang="en-US" sz="1200"/>
              <a:t>Initializes and manages the database</a:t>
            </a:r>
          </a:p>
          <a:p>
            <a:r>
              <a:rPr lang="en-US" sz="1200" b="1"/>
              <a:t>Authorization Checks:  Validates user credentials before performing sensitive operations like adding or deleting records.</a:t>
            </a:r>
          </a:p>
          <a:p>
            <a:endParaRPr lang="en-US" sz="1200"/>
          </a:p>
          <a:p>
            <a:r>
              <a:rPr lang="en-US" sz="1200"/>
              <a:t>Benefits of using a DAO:</a:t>
            </a:r>
          </a:p>
          <a:p>
            <a:r>
              <a:rPr lang="en-US" sz="1200"/>
              <a:t>Improved testability: You can mock DAO methods in unit tests without touching the actual database.</a:t>
            </a:r>
          </a:p>
          <a:p>
            <a:r>
              <a:rPr lang="en-US" sz="1200"/>
              <a:t>Scalability: Easy to extend with new methods or switch to a different database backend.</a:t>
            </a:r>
          </a:p>
          <a:p>
            <a:r>
              <a:rPr lang="en-US" sz="1200"/>
              <a:t>Security: Centralized access control and validation reduce the risk of unauthorized access or SQL Injection.</a:t>
            </a:r>
          </a:p>
          <a:p>
            <a:endParaRPr lang="en-US"/>
          </a:p>
        </p:txBody>
      </p:sp>
      <p:sp>
        <p:nvSpPr>
          <p:cNvPr id="4" name="Slide Number Placeholder 3"/>
          <p:cNvSpPr>
            <a:spLocks noGrp="1"/>
          </p:cNvSpPr>
          <p:nvPr>
            <p:ph type="sldNum" sz="quarter" idx="5"/>
          </p:nvPr>
        </p:nvSpPr>
        <p:spPr/>
        <p:txBody>
          <a:bodyPr/>
          <a:lstStyle/>
          <a:p>
            <a:fld id="{3D416C1D-1CD9-4ED8-98CA-581FC1A63DA9}" type="slidenum">
              <a:rPr lang="en-US" smtClean="0"/>
              <a:t>11</a:t>
            </a:fld>
            <a:endParaRPr lang="en-US"/>
          </a:p>
        </p:txBody>
      </p:sp>
    </p:spTree>
    <p:extLst>
      <p:ext uri="{BB962C8B-B14F-4D97-AF65-F5344CB8AC3E}">
        <p14:creationId xmlns:p14="http://schemas.microsoft.com/office/powerpoint/2010/main" val="1744651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altLang="en-US" sz="1200" b="1" i="0" u="none" strike="noStrike" cap="none" normalizeH="0" baseline="0">
                <a:ln>
                  <a:noFill/>
                </a:ln>
                <a:solidFill>
                  <a:schemeClr val="tx1"/>
                </a:solidFill>
                <a:effectLst/>
                <a:latin typeface="Arial" panose="020B0604020202020204" pitchFamily="34" charset="0"/>
              </a:rPr>
              <a:t>Why It Matters</a:t>
            </a:r>
            <a:r>
              <a:rPr kumimoji="0" lang="en-US" altLang="en-US" sz="1200" b="0" i="0" u="none" strike="noStrike" cap="none" normalizeH="0" baseline="0">
                <a:ln>
                  <a:noFill/>
                </a:ln>
                <a:solidFill>
                  <a:schemeClr val="tx1"/>
                </a:solidFill>
                <a:effectLst/>
                <a:latin typeface="Arial" panose="020B0604020202020204" pitchFamily="34" charset="0"/>
              </a:rPr>
              <a:t>: This setup ensures that all license-related operations (add, delete, search) have reliable access to the database, and it enforces a clean separation between configuration, connection logic, and business functionality.</a:t>
            </a:r>
            <a:endParaRPr lang="en-US"/>
          </a:p>
        </p:txBody>
      </p:sp>
      <p:sp>
        <p:nvSpPr>
          <p:cNvPr id="4" name="Slide Number Placeholder 3"/>
          <p:cNvSpPr>
            <a:spLocks noGrp="1"/>
          </p:cNvSpPr>
          <p:nvPr>
            <p:ph type="sldNum" sz="quarter" idx="5"/>
          </p:nvPr>
        </p:nvSpPr>
        <p:spPr/>
        <p:txBody>
          <a:bodyPr/>
          <a:lstStyle/>
          <a:p>
            <a:fld id="{3D416C1D-1CD9-4ED8-98CA-581FC1A63DA9}" type="slidenum">
              <a:rPr lang="en-US" smtClean="0"/>
              <a:t>12</a:t>
            </a:fld>
            <a:endParaRPr lang="en-US"/>
          </a:p>
        </p:txBody>
      </p:sp>
    </p:spTree>
    <p:extLst>
      <p:ext uri="{BB962C8B-B14F-4D97-AF65-F5344CB8AC3E}">
        <p14:creationId xmlns:p14="http://schemas.microsoft.com/office/powerpoint/2010/main" val="3079132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Parameters</a:t>
            </a:r>
            <a:r>
              <a:rPr lang="en-US" sz="1200"/>
              <a:t>:</a:t>
            </a:r>
          </a:p>
          <a:p>
            <a:r>
              <a:rPr lang="en-US" sz="1200"/>
              <a:t>- </a:t>
            </a:r>
            <a:r>
              <a:rPr lang="en-US" sz="1200" err="1"/>
              <a:t>user_request</a:t>
            </a:r>
            <a:r>
              <a:rPr lang="en-US" sz="1200"/>
              <a:t>:  An object containing the cleaned license data, including the license ID.</a:t>
            </a:r>
          </a:p>
          <a:p>
            <a:r>
              <a:rPr lang="en-US" sz="1200"/>
              <a:t>- </a:t>
            </a:r>
            <a:r>
              <a:rPr lang="en-US" sz="1200" err="1"/>
              <a:t>user_credentials</a:t>
            </a:r>
            <a:r>
              <a:rPr lang="en-US" sz="1200"/>
              <a:t>:  An object representing the user's identity and permissions.</a:t>
            </a:r>
          </a:p>
          <a:p>
            <a:endParaRPr lang="en-US" sz="1200" b="1"/>
          </a:p>
          <a:p>
            <a:r>
              <a:rPr lang="en-US" sz="1200" b="1"/>
              <a:t>Business Value &amp; Importance</a:t>
            </a:r>
          </a:p>
          <a:p>
            <a:r>
              <a:rPr lang="en-US" sz="1200" b="1"/>
              <a:t>Access Control</a:t>
            </a:r>
            <a:r>
              <a:rPr lang="en-US" sz="1200"/>
              <a:t>: Ensures only authorized personnel can delete sensitive license data, protecting against accidental or malicious data loss.</a:t>
            </a:r>
          </a:p>
          <a:p>
            <a:r>
              <a:rPr lang="en-US" sz="1200" b="1"/>
              <a:t>Data Integrity</a:t>
            </a:r>
            <a:r>
              <a:rPr lang="en-US" sz="1200"/>
              <a:t>: Uses transaction management to prevent partial deletions or corruption in case of failure.</a:t>
            </a:r>
          </a:p>
          <a:p>
            <a:r>
              <a:rPr lang="en-US" sz="1200" b="1"/>
              <a:t>Scalability</a:t>
            </a:r>
            <a:r>
              <a:rPr lang="en-US" sz="1200"/>
              <a:t>: Designed to work seamlessly with cascading deletes, reducing the need for manual cleanup of related records.</a:t>
            </a:r>
          </a:p>
          <a:p>
            <a:r>
              <a:rPr lang="en-US" sz="1200" b="1"/>
              <a:t>Auditability</a:t>
            </a:r>
            <a:r>
              <a:rPr lang="en-US" sz="1200"/>
              <a:t>: Logs errors and unauthorized access attempts, supporting traceability and compliance.</a:t>
            </a:r>
          </a:p>
          <a:p>
            <a:endParaRPr lang="en-US"/>
          </a:p>
        </p:txBody>
      </p:sp>
      <p:sp>
        <p:nvSpPr>
          <p:cNvPr id="4" name="Slide Number Placeholder 3"/>
          <p:cNvSpPr>
            <a:spLocks noGrp="1"/>
          </p:cNvSpPr>
          <p:nvPr>
            <p:ph type="sldNum" sz="quarter" idx="5"/>
          </p:nvPr>
        </p:nvSpPr>
        <p:spPr/>
        <p:txBody>
          <a:bodyPr/>
          <a:lstStyle/>
          <a:p>
            <a:fld id="{3D416C1D-1CD9-4ED8-98CA-581FC1A63DA9}" type="slidenum">
              <a:rPr lang="en-US" smtClean="0"/>
              <a:t>13</a:t>
            </a:fld>
            <a:endParaRPr lang="en-US"/>
          </a:p>
        </p:txBody>
      </p:sp>
    </p:spTree>
    <p:extLst>
      <p:ext uri="{BB962C8B-B14F-4D97-AF65-F5344CB8AC3E}">
        <p14:creationId xmlns:p14="http://schemas.microsoft.com/office/powerpoint/2010/main" val="4015947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3DFEE84-15CA-4309-86CF-610264EB8B71}" type="datetimeFigureOut">
              <a:rPr lang="en-US" smtClean="0"/>
              <a:t>11/7/2025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2D44E716-1B07-4FA6-ADC6-1458C5000D5B}" type="slidenum">
              <a:rPr lang="en-US" smtClean="0"/>
              <a:t>‹#›</a:t>
            </a:fld>
            <a:endParaRPr lang="en-US"/>
          </a:p>
        </p:txBody>
      </p:sp>
    </p:spTree>
    <p:extLst>
      <p:ext uri="{BB962C8B-B14F-4D97-AF65-F5344CB8AC3E}">
        <p14:creationId xmlns:p14="http://schemas.microsoft.com/office/powerpoint/2010/main" val="228189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DFEE84-15CA-4309-86CF-610264EB8B71}"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1257517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3DFEE84-15CA-4309-86CF-610264EB8B71}" type="datetimeFigureOut">
              <a:rPr lang="en-US" smtClean="0"/>
              <a:t>11/7/2025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D44E716-1B07-4FA6-ADC6-1458C5000D5B}" type="slidenum">
              <a:rPr lang="en-US" smtClean="0"/>
              <a:t>‹#›</a:t>
            </a:fld>
            <a:endParaRPr lang="en-US"/>
          </a:p>
        </p:txBody>
      </p:sp>
    </p:spTree>
    <p:extLst>
      <p:ext uri="{BB962C8B-B14F-4D97-AF65-F5344CB8AC3E}">
        <p14:creationId xmlns:p14="http://schemas.microsoft.com/office/powerpoint/2010/main" val="3965599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DFEE84-15CA-4309-86CF-610264EB8B71}"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112697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DFEE84-15CA-4309-86CF-610264EB8B71}"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2555985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03DFEE84-15CA-4309-86CF-610264EB8B71}"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365901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DFEE84-15CA-4309-86CF-610264EB8B71}"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128349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3DFEE84-15CA-4309-86CF-610264EB8B71}" type="datetimeFigureOut">
              <a:rPr lang="en-US" smtClean="0"/>
              <a:t>11/7/2025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D44E716-1B07-4FA6-ADC6-1458C5000D5B}" type="slidenum">
              <a:rPr lang="en-US" smtClean="0"/>
              <a:t>‹#›</a:t>
            </a:fld>
            <a:endParaRPr lang="en-US"/>
          </a:p>
        </p:txBody>
      </p:sp>
    </p:spTree>
    <p:extLst>
      <p:ext uri="{BB962C8B-B14F-4D97-AF65-F5344CB8AC3E}">
        <p14:creationId xmlns:p14="http://schemas.microsoft.com/office/powerpoint/2010/main" val="358169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DFEE84-15CA-4309-86CF-610264EB8B71}"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492199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DFEE84-15CA-4309-86CF-610264EB8B71}"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E716-1B07-4FA6-ADC6-1458C5000D5B}" type="slidenum">
              <a:rPr lang="en-US" smtClean="0"/>
              <a:t>‹#›</a:t>
            </a:fld>
            <a:endParaRPr lang="en-US"/>
          </a:p>
        </p:txBody>
      </p:sp>
    </p:spTree>
    <p:extLst>
      <p:ext uri="{BB962C8B-B14F-4D97-AF65-F5344CB8AC3E}">
        <p14:creationId xmlns:p14="http://schemas.microsoft.com/office/powerpoint/2010/main" val="2484084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3DFEE84-15CA-4309-86CF-610264EB8B71}" type="datetimeFigureOut">
              <a:rPr lang="en-US" smtClean="0"/>
              <a:t>11/7/2025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2D44E716-1B07-4FA6-ADC6-1458C5000D5B}" type="slidenum">
              <a:rPr lang="en-US" smtClean="0"/>
              <a:t>‹#›</a:t>
            </a:fld>
            <a:endParaRPr lang="en-US"/>
          </a:p>
        </p:txBody>
      </p:sp>
    </p:spTree>
    <p:extLst>
      <p:ext uri="{BB962C8B-B14F-4D97-AF65-F5344CB8AC3E}">
        <p14:creationId xmlns:p14="http://schemas.microsoft.com/office/powerpoint/2010/main" val="3337146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Page Without Pattern">
    <p:bg>
      <p:bgPr>
        <a:gradFill>
          <a:gsLst>
            <a:gs pos="0">
              <a:srgbClr val="010203"/>
            </a:gs>
            <a:gs pos="100000">
              <a:srgbClr val="2E2E2E"/>
            </a:gs>
          </a:gsLst>
          <a:lin ang="600000" scaled="0"/>
        </a:gra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DA5D525-E230-C640-E71C-DAE3EBA4011C}"/>
              </a:ext>
            </a:extLst>
          </p:cNvPr>
          <p:cNvSpPr>
            <a:spLocks noGrp="1"/>
          </p:cNvSpPr>
          <p:nvPr>
            <p:ph type="title" hasCustomPrompt="1"/>
          </p:nvPr>
        </p:nvSpPr>
        <p:spPr>
          <a:xfrm>
            <a:off x="487830" y="1838714"/>
            <a:ext cx="6969278" cy="1695131"/>
          </a:xfrm>
          <a:prstGeom prst="rect">
            <a:avLst/>
          </a:prstGeom>
        </p:spPr>
        <p:txBody>
          <a:bodyPr vert="horz" lIns="91440" tIns="45720" rIns="91440" bIns="45720" rtlCol="0" anchor="b">
            <a:noAutofit/>
          </a:bodyPr>
          <a:lstStyle>
            <a:lvl1pPr>
              <a:defRPr sz="6000">
                <a:solidFill>
                  <a:schemeClr val="bg1"/>
                </a:solidFill>
              </a:defRPr>
            </a:lvl1pPr>
          </a:lstStyle>
          <a:p>
            <a:r>
              <a:rPr lang="en-US"/>
              <a:t>Presentation title goes here</a:t>
            </a:r>
          </a:p>
        </p:txBody>
      </p:sp>
      <p:sp>
        <p:nvSpPr>
          <p:cNvPr id="2" name="Text Placeholder 2">
            <a:extLst>
              <a:ext uri="{FF2B5EF4-FFF2-40B4-BE49-F238E27FC236}">
                <a16:creationId xmlns:a16="http://schemas.microsoft.com/office/drawing/2014/main" id="{9DCDBB9D-5751-3F20-7305-4B197D61D081}"/>
              </a:ext>
            </a:extLst>
          </p:cNvPr>
          <p:cNvSpPr>
            <a:spLocks noGrp="1"/>
          </p:cNvSpPr>
          <p:nvPr>
            <p:ph type="body" sz="quarter" idx="10" hasCustomPrompt="1"/>
          </p:nvPr>
        </p:nvSpPr>
        <p:spPr>
          <a:xfrm>
            <a:off x="487363" y="3721100"/>
            <a:ext cx="6064250" cy="1292225"/>
          </a:xfrm>
        </p:spPr>
        <p:txBody>
          <a:bodyPr>
            <a:noAutofit/>
          </a:bodyPr>
          <a:lstStyle>
            <a:lvl1pPr marL="0" indent="0">
              <a:lnSpc>
                <a:spcPct val="120000"/>
              </a:lnSpc>
              <a:spcBef>
                <a:spcPts val="0"/>
              </a:spcBef>
              <a:spcAft>
                <a:spcPts val="600"/>
              </a:spcAft>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Presenter name</a:t>
            </a:r>
          </a:p>
        </p:txBody>
      </p:sp>
      <p:pic>
        <p:nvPicPr>
          <p:cNvPr id="6" name="Picture 5" descr="A picture containing text, clipart&#10;&#10;Description automatically generated">
            <a:extLst>
              <a:ext uri="{FF2B5EF4-FFF2-40B4-BE49-F238E27FC236}">
                <a16:creationId xmlns:a16="http://schemas.microsoft.com/office/drawing/2014/main" id="{8E07FE5D-E261-AA40-887B-8BA4E19BB581}"/>
              </a:ext>
            </a:extLst>
          </p:cNvPr>
          <p:cNvPicPr>
            <a:picLocks noChangeAspect="1"/>
          </p:cNvPicPr>
          <p:nvPr userDrawn="1"/>
        </p:nvPicPr>
        <p:blipFill>
          <a:blip r:embed="rId2"/>
          <a:stretch>
            <a:fillRect/>
          </a:stretch>
        </p:blipFill>
        <p:spPr>
          <a:xfrm>
            <a:off x="576474" y="5634066"/>
            <a:ext cx="2843110" cy="459044"/>
          </a:xfrm>
          <a:prstGeom prst="rect">
            <a:avLst/>
          </a:prstGeom>
        </p:spPr>
      </p:pic>
      <p:pic>
        <p:nvPicPr>
          <p:cNvPr id="7" name="Picture 6" descr="Icon&#10;&#10;Description automatically generated">
            <a:extLst>
              <a:ext uri="{FF2B5EF4-FFF2-40B4-BE49-F238E27FC236}">
                <a16:creationId xmlns:a16="http://schemas.microsoft.com/office/drawing/2014/main" id="{4B026289-6C1D-E84F-8C6C-F338E85BF4EA}"/>
              </a:ext>
            </a:extLst>
          </p:cNvPr>
          <p:cNvPicPr>
            <a:picLocks noChangeAspect="1"/>
          </p:cNvPicPr>
          <p:nvPr userDrawn="1"/>
        </p:nvPicPr>
        <p:blipFill>
          <a:blip r:embed="rId3"/>
          <a:stretch>
            <a:fillRect/>
          </a:stretch>
        </p:blipFill>
        <p:spPr>
          <a:xfrm>
            <a:off x="7329425" y="1282389"/>
            <a:ext cx="4081347" cy="4081347"/>
          </a:xfrm>
          <a:prstGeom prst="rect">
            <a:avLst/>
          </a:prstGeom>
        </p:spPr>
      </p:pic>
    </p:spTree>
    <p:extLst>
      <p:ext uri="{BB962C8B-B14F-4D97-AF65-F5344CB8AC3E}">
        <p14:creationId xmlns:p14="http://schemas.microsoft.com/office/powerpoint/2010/main" val="4132172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Title Page - Pattern (Black)">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A3B0B5-B3A8-5EBE-67ED-FD8D23F7531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7721858" y="1399610"/>
            <a:ext cx="3683343" cy="4058780"/>
          </a:xfrm>
          <a:prstGeom prst="rect">
            <a:avLst/>
          </a:prstGeom>
        </p:spPr>
      </p:pic>
      <p:sp>
        <p:nvSpPr>
          <p:cNvPr id="5" name="Title Placeholder 1">
            <a:extLst>
              <a:ext uri="{FF2B5EF4-FFF2-40B4-BE49-F238E27FC236}">
                <a16:creationId xmlns:a16="http://schemas.microsoft.com/office/drawing/2014/main" id="{7DA5D525-E230-C640-E71C-DAE3EBA4011C}"/>
              </a:ext>
            </a:extLst>
          </p:cNvPr>
          <p:cNvSpPr>
            <a:spLocks noGrp="1"/>
          </p:cNvSpPr>
          <p:nvPr>
            <p:ph type="title" hasCustomPrompt="1"/>
          </p:nvPr>
        </p:nvSpPr>
        <p:spPr>
          <a:xfrm>
            <a:off x="487830" y="1838714"/>
            <a:ext cx="6969278" cy="1695131"/>
          </a:xfrm>
          <a:prstGeom prst="rect">
            <a:avLst/>
          </a:prstGeom>
        </p:spPr>
        <p:txBody>
          <a:bodyPr vert="horz" lIns="91440" tIns="45720" rIns="91440" bIns="45720" rtlCol="0" anchor="b">
            <a:noAutofit/>
          </a:bodyPr>
          <a:lstStyle>
            <a:lvl1pPr>
              <a:defRPr sz="6000">
                <a:solidFill>
                  <a:schemeClr val="bg1"/>
                </a:solidFill>
              </a:defRPr>
            </a:lvl1pPr>
          </a:lstStyle>
          <a:p>
            <a:r>
              <a:rPr lang="en-US"/>
              <a:t>Presentation title goes here</a:t>
            </a:r>
          </a:p>
        </p:txBody>
      </p:sp>
      <p:sp>
        <p:nvSpPr>
          <p:cNvPr id="2" name="Text Placeholder 2">
            <a:extLst>
              <a:ext uri="{FF2B5EF4-FFF2-40B4-BE49-F238E27FC236}">
                <a16:creationId xmlns:a16="http://schemas.microsoft.com/office/drawing/2014/main" id="{9DCDBB9D-5751-3F20-7305-4B197D61D081}"/>
              </a:ext>
            </a:extLst>
          </p:cNvPr>
          <p:cNvSpPr>
            <a:spLocks noGrp="1"/>
          </p:cNvSpPr>
          <p:nvPr>
            <p:ph type="body" sz="quarter" idx="10" hasCustomPrompt="1"/>
          </p:nvPr>
        </p:nvSpPr>
        <p:spPr>
          <a:xfrm>
            <a:off x="487363" y="3721100"/>
            <a:ext cx="6064250" cy="1292225"/>
          </a:xfrm>
        </p:spPr>
        <p:txBody>
          <a:bodyPr>
            <a:noAutofit/>
          </a:bodyPr>
          <a:lstStyle>
            <a:lvl1pPr marL="0" indent="0">
              <a:lnSpc>
                <a:spcPct val="120000"/>
              </a:lnSpc>
              <a:spcBef>
                <a:spcPts val="0"/>
              </a:spcBef>
              <a:spcAft>
                <a:spcPts val="600"/>
              </a:spcAft>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Presenter name</a:t>
            </a:r>
          </a:p>
        </p:txBody>
      </p:sp>
      <p:pic>
        <p:nvPicPr>
          <p:cNvPr id="3" name="Graphic 2">
            <a:extLst>
              <a:ext uri="{FF2B5EF4-FFF2-40B4-BE49-F238E27FC236}">
                <a16:creationId xmlns:a16="http://schemas.microsoft.com/office/drawing/2014/main" id="{3E3A1DA3-7219-4EA5-7FD6-872982A80B35}"/>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612176" y="5634873"/>
            <a:ext cx="2307398" cy="543770"/>
          </a:xfrm>
          <a:prstGeom prst="rect">
            <a:avLst/>
          </a:prstGeom>
        </p:spPr>
      </p:pic>
    </p:spTree>
    <p:extLst>
      <p:ext uri="{BB962C8B-B14F-4D97-AF65-F5344CB8AC3E}">
        <p14:creationId xmlns:p14="http://schemas.microsoft.com/office/powerpoint/2010/main" val="22179926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Agenda - Pattern (Purpl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DAA4F78E-A7B0-8656-C176-F1820629CD12}"/>
              </a:ext>
            </a:extLst>
          </p:cNvPr>
          <p:cNvSpPr>
            <a:spLocks noGrp="1"/>
          </p:cNvSpPr>
          <p:nvPr>
            <p:ph type="body" sz="quarter" idx="10" hasCustomPrompt="1"/>
          </p:nvPr>
        </p:nvSpPr>
        <p:spPr>
          <a:xfrm>
            <a:off x="587700" y="2456045"/>
            <a:ext cx="9891867" cy="3059112"/>
          </a:xfrm>
        </p:spPr>
        <p:txBody>
          <a:bodyPr lIns="0">
            <a:noAutofit/>
          </a:bodyPr>
          <a:lstStyle>
            <a:lvl1pPr marL="457200" indent="-457200">
              <a:lnSpc>
                <a:spcPct val="150000"/>
              </a:lnSpc>
              <a:buFont typeface="+mj-lt"/>
              <a:buAutoNum type="arabicPeriod"/>
              <a:tabLst>
                <a:tab pos="455613" algn="l"/>
              </a:tabLst>
              <a:defRPr sz="1600">
                <a:solidFill>
                  <a:schemeClr val="bg1"/>
                </a:solidFill>
              </a:defRPr>
            </a:lvl1pPr>
            <a:lvl2pPr marL="457200" indent="0">
              <a:buNone/>
              <a:defRPr/>
            </a:lvl2pPr>
          </a:lstStyle>
          <a:p>
            <a:r>
              <a:rPr lang="en-US"/>
              <a:t>List your agenda item here. Put your description here.</a:t>
            </a:r>
          </a:p>
          <a:p>
            <a:r>
              <a:rPr lang="en-US"/>
              <a:t>List your agenda item here</a:t>
            </a:r>
          </a:p>
          <a:p>
            <a:r>
              <a:rPr lang="en-US"/>
              <a:t>List your agenda item here</a:t>
            </a:r>
          </a:p>
          <a:p>
            <a:r>
              <a:rPr lang="en-US"/>
              <a:t>List your agenda item here</a:t>
            </a:r>
          </a:p>
          <a:p>
            <a:r>
              <a:rPr lang="en-US"/>
              <a:t>List your agenda item here</a:t>
            </a:r>
          </a:p>
          <a:p>
            <a:r>
              <a:rPr lang="en-US"/>
              <a:t>List your agenda item here</a:t>
            </a:r>
          </a:p>
        </p:txBody>
      </p:sp>
      <p:sp>
        <p:nvSpPr>
          <p:cNvPr id="13" name="Slide Number Placeholder 5">
            <a:extLst>
              <a:ext uri="{FF2B5EF4-FFF2-40B4-BE49-F238E27FC236}">
                <a16:creationId xmlns:a16="http://schemas.microsoft.com/office/drawing/2014/main" id="{3AA81659-118A-ED77-0CC3-85B9A246AFA0}"/>
              </a:ext>
            </a:extLst>
          </p:cNvPr>
          <p:cNvSpPr>
            <a:spLocks noGrp="1"/>
          </p:cNvSpPr>
          <p:nvPr>
            <p:ph type="sldNum" sz="quarter" idx="4"/>
          </p:nvPr>
        </p:nvSpPr>
        <p:spPr>
          <a:xfrm>
            <a:off x="45720" y="6356350"/>
            <a:ext cx="411480" cy="365125"/>
          </a:xfrm>
          <a:prstGeom prst="rect">
            <a:avLst/>
          </a:prstGeom>
        </p:spPr>
        <p:txBody>
          <a:bodyPr vert="horz" lIns="91440" tIns="45720" rIns="91440" bIns="45720" rtlCol="0" anchor="ctr"/>
          <a:lstStyle>
            <a:lvl1pPr algn="r">
              <a:defRPr sz="9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34EFE245-56C2-F14B-82AF-5D597B49DB7D}" type="slidenum">
              <a:rPr lang="en-US" smtClean="0"/>
              <a:pPr/>
              <a:t>‹#›</a:t>
            </a:fld>
            <a:endParaRPr lang="en-US"/>
          </a:p>
        </p:txBody>
      </p:sp>
      <p:sp>
        <p:nvSpPr>
          <p:cNvPr id="3" name="Text Placeholder 3">
            <a:extLst>
              <a:ext uri="{FF2B5EF4-FFF2-40B4-BE49-F238E27FC236}">
                <a16:creationId xmlns:a16="http://schemas.microsoft.com/office/drawing/2014/main" id="{06A5BE90-4123-5F64-5193-45D308C3B595}"/>
              </a:ext>
            </a:extLst>
          </p:cNvPr>
          <p:cNvSpPr>
            <a:spLocks noGrp="1"/>
          </p:cNvSpPr>
          <p:nvPr>
            <p:ph type="body" sz="quarter" idx="11" hasCustomPrompt="1"/>
          </p:nvPr>
        </p:nvSpPr>
        <p:spPr>
          <a:xfrm>
            <a:off x="512064" y="410778"/>
            <a:ext cx="5667375" cy="919163"/>
          </a:xfrm>
        </p:spPr>
        <p:txBody>
          <a:bodyPr/>
          <a:lstStyle>
            <a:lvl1pPr marL="0" indent="0">
              <a:buNone/>
              <a:defRPr sz="6000">
                <a:solidFill>
                  <a:schemeClr val="bg1"/>
                </a:solidFill>
              </a:defRPr>
            </a:lvl1pPr>
          </a:lstStyle>
          <a:p>
            <a:pPr lvl="0"/>
            <a:r>
              <a:rPr lang="en-US"/>
              <a:t>Agenda</a:t>
            </a:r>
          </a:p>
        </p:txBody>
      </p:sp>
      <p:pic>
        <p:nvPicPr>
          <p:cNvPr id="5" name="Graphic 4">
            <a:extLst>
              <a:ext uri="{FF2B5EF4-FFF2-40B4-BE49-F238E27FC236}">
                <a16:creationId xmlns:a16="http://schemas.microsoft.com/office/drawing/2014/main" id="{98F890E6-0AFA-C1A7-2558-D71BD1980B9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0864049" y="6364935"/>
            <a:ext cx="1081385" cy="254843"/>
          </a:xfrm>
          <a:prstGeom prst="rect">
            <a:avLst/>
          </a:prstGeom>
        </p:spPr>
      </p:pic>
    </p:spTree>
    <p:extLst>
      <p:ext uri="{BB962C8B-B14F-4D97-AF65-F5344CB8AC3E}">
        <p14:creationId xmlns:p14="http://schemas.microsoft.com/office/powerpoint/2010/main" val="3165600043"/>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Title + Content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C5CAE-745A-8A57-3F8F-96EF7E84A9F7}"/>
              </a:ext>
            </a:extLst>
          </p:cNvPr>
          <p:cNvSpPr>
            <a:spLocks noGrp="1"/>
          </p:cNvSpPr>
          <p:nvPr>
            <p:ph type="ctrTitle" hasCustomPrompt="1"/>
          </p:nvPr>
        </p:nvSpPr>
        <p:spPr>
          <a:xfrm>
            <a:off x="578163" y="346226"/>
            <a:ext cx="11065458" cy="618456"/>
          </a:xfrm>
        </p:spPr>
        <p:txBody>
          <a:bodyPr lIns="0" anchor="ctr">
            <a:noAutofit/>
          </a:bodyPr>
          <a:lstStyle>
            <a:lvl1pPr algn="l">
              <a:defRPr sz="3200"/>
            </a:lvl1pPr>
          </a:lstStyle>
          <a:p>
            <a:r>
              <a:rPr lang="en-US"/>
              <a:t>Title goes here</a:t>
            </a:r>
          </a:p>
        </p:txBody>
      </p:sp>
      <p:sp>
        <p:nvSpPr>
          <p:cNvPr id="22" name="Content Placeholder 4">
            <a:extLst>
              <a:ext uri="{FF2B5EF4-FFF2-40B4-BE49-F238E27FC236}">
                <a16:creationId xmlns:a16="http://schemas.microsoft.com/office/drawing/2014/main" id="{7BD0D4E6-64E0-C271-6950-1FA5EFD6A0D4}"/>
              </a:ext>
            </a:extLst>
          </p:cNvPr>
          <p:cNvSpPr>
            <a:spLocks noGrp="1"/>
          </p:cNvSpPr>
          <p:nvPr>
            <p:ph sz="quarter" idx="10" hasCustomPrompt="1"/>
          </p:nvPr>
        </p:nvSpPr>
        <p:spPr>
          <a:xfrm>
            <a:off x="578163" y="1278195"/>
            <a:ext cx="11085123" cy="4850466"/>
          </a:xfrm>
        </p:spPr>
        <p:txBody>
          <a:bodyPr>
            <a:noAutofit/>
          </a:bodyPr>
          <a:lstStyle>
            <a:lvl1pPr>
              <a:defRPr sz="2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C2B0C39C-40CB-5215-4699-3FA8077DD442}"/>
              </a:ext>
            </a:extLst>
          </p:cNvPr>
          <p:cNvCxnSpPr>
            <a:cxnSpLocks/>
          </p:cNvCxnSpPr>
          <p:nvPr/>
        </p:nvCxnSpPr>
        <p:spPr>
          <a:xfrm>
            <a:off x="578163" y="1067552"/>
            <a:ext cx="11045801" cy="0"/>
          </a:xfrm>
          <a:prstGeom prst="line">
            <a:avLst/>
          </a:prstGeom>
          <a:ln w="44450" cap="rnd">
            <a:gradFill>
              <a:gsLst>
                <a:gs pos="0">
                  <a:schemeClr val="accent4"/>
                </a:gs>
                <a:gs pos="50000">
                  <a:schemeClr val="accent1"/>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C8FA9C8-1857-5B16-B2F1-66547DE18928}"/>
              </a:ext>
            </a:extLst>
          </p:cNvPr>
          <p:cNvSpPr>
            <a:spLocks noGrp="1"/>
          </p:cNvSpPr>
          <p:nvPr>
            <p:ph type="sldNum" sz="quarter" idx="4"/>
          </p:nvPr>
        </p:nvSpPr>
        <p:spPr>
          <a:xfrm>
            <a:off x="45720" y="6356350"/>
            <a:ext cx="411480" cy="365125"/>
          </a:xfrm>
          <a:prstGeom prst="rect">
            <a:avLst/>
          </a:prstGeom>
        </p:spPr>
        <p:txBody>
          <a:bodyPr vert="horz" lIns="91440" tIns="45720" rIns="91440" bIns="45720" rtlCol="0" anchor="ctr">
            <a:noAutofit/>
          </a:bodyPr>
          <a:lstStyle>
            <a:lvl1pPr algn="r">
              <a:defRPr sz="9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34EFE245-56C2-F14B-82AF-5D597B49DB7D}" type="slidenum">
              <a:rPr lang="en-US" smtClean="0"/>
              <a:pPr/>
              <a:t>‹#›</a:t>
            </a:fld>
            <a:endParaRPr lang="en-US"/>
          </a:p>
        </p:txBody>
      </p:sp>
    </p:spTree>
    <p:extLst>
      <p:ext uri="{BB962C8B-B14F-4D97-AF65-F5344CB8AC3E}">
        <p14:creationId xmlns:p14="http://schemas.microsoft.com/office/powerpoint/2010/main" val="2707338584"/>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03DFEE84-15CA-4309-86CF-610264EB8B71}" type="datetimeFigureOut">
              <a:rPr lang="en-US" smtClean="0"/>
              <a:t>11/7/2025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2D44E716-1B07-4FA6-ADC6-1458C5000D5B}"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2519356"/>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D2004B63-9E3E-E07A-80F7-507AA70C78D0}"/>
              </a:ext>
            </a:extLst>
          </p:cNvPr>
          <p:cNvSpPr txBox="1">
            <a:spLocks/>
          </p:cNvSpPr>
          <p:nvPr/>
        </p:nvSpPr>
        <p:spPr>
          <a:xfrm>
            <a:off x="102160" y="4321654"/>
            <a:ext cx="6102498" cy="146713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bg1"/>
                </a:solidFill>
              </a:rPr>
              <a:t>Tyson Lucas, Noelle Stark, Frederick Bumgarner, Kara Lynch, Oluwasegun Durosinmi</a:t>
            </a:r>
          </a:p>
        </p:txBody>
      </p:sp>
      <p:sp>
        <p:nvSpPr>
          <p:cNvPr id="3" name="Title 1">
            <a:extLst>
              <a:ext uri="{FF2B5EF4-FFF2-40B4-BE49-F238E27FC236}">
                <a16:creationId xmlns:a16="http://schemas.microsoft.com/office/drawing/2014/main" id="{002CE336-6F88-9299-431B-CCE8D45A6367}"/>
              </a:ext>
            </a:extLst>
          </p:cNvPr>
          <p:cNvSpPr>
            <a:spLocks noGrp="1"/>
          </p:cNvSpPr>
          <p:nvPr>
            <p:ph type="title"/>
          </p:nvPr>
        </p:nvSpPr>
        <p:spPr>
          <a:xfrm>
            <a:off x="102160" y="2416211"/>
            <a:ext cx="6969278" cy="1695131"/>
          </a:xfrm>
        </p:spPr>
        <p:txBody>
          <a:bodyPr/>
          <a:lstStyle/>
          <a:p>
            <a:pPr algn="ctr"/>
            <a:r>
              <a:rPr lang="en-US" sz="7200" b="1">
                <a:ln w="6600">
                  <a:solidFill>
                    <a:srgbClr val="FF0000"/>
                  </a:solidFill>
                  <a:prstDash val="solid"/>
                </a:ln>
                <a:effectLst>
                  <a:outerShdw dist="38100" dir="2700000" algn="tl" rotWithShape="0">
                    <a:schemeClr val="accent2"/>
                  </a:outerShdw>
                </a:effectLst>
              </a:rPr>
              <a:t>Team Red</a:t>
            </a:r>
          </a:p>
        </p:txBody>
      </p:sp>
      <p:sp>
        <p:nvSpPr>
          <p:cNvPr id="5" name="Title 1">
            <a:extLst>
              <a:ext uri="{FF2B5EF4-FFF2-40B4-BE49-F238E27FC236}">
                <a16:creationId xmlns:a16="http://schemas.microsoft.com/office/drawing/2014/main" id="{0D29DC9D-1484-A5DB-1998-CEBB93A8D897}"/>
              </a:ext>
            </a:extLst>
          </p:cNvPr>
          <p:cNvSpPr txBox="1">
            <a:spLocks/>
          </p:cNvSpPr>
          <p:nvPr/>
        </p:nvSpPr>
        <p:spPr>
          <a:xfrm>
            <a:off x="298280" y="689738"/>
            <a:ext cx="11764773" cy="71128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4400"/>
              <a:t>Software Assignment and License Tracking System</a:t>
            </a:r>
          </a:p>
          <a:p>
            <a:r>
              <a:rPr lang="en-US" sz="4400"/>
              <a:t>(S.A.L.T.S.)</a:t>
            </a:r>
          </a:p>
        </p:txBody>
      </p:sp>
      <p:pic>
        <p:nvPicPr>
          <p:cNvPr id="7" name="Picture 6" descr="A salt shaker and a pile of salt&#10;&#10;AI-generated content may be incorrect.">
            <a:extLst>
              <a:ext uri="{FF2B5EF4-FFF2-40B4-BE49-F238E27FC236}">
                <a16:creationId xmlns:a16="http://schemas.microsoft.com/office/drawing/2014/main" id="{9BCB9550-22D9-F03C-C974-1BEC43BF1702}"/>
              </a:ext>
            </a:extLst>
          </p:cNvPr>
          <p:cNvPicPr>
            <a:picLocks noChangeAspect="1"/>
          </p:cNvPicPr>
          <p:nvPr/>
        </p:nvPicPr>
        <p:blipFill>
          <a:blip r:embed="rId3"/>
          <a:stretch>
            <a:fillRect/>
          </a:stretch>
        </p:blipFill>
        <p:spPr>
          <a:xfrm>
            <a:off x="7064904" y="1040341"/>
            <a:ext cx="4391025" cy="4819650"/>
          </a:xfrm>
          <a:prstGeom prst="rect">
            <a:avLst/>
          </a:prstGeom>
        </p:spPr>
      </p:pic>
    </p:spTree>
    <p:extLst>
      <p:ext uri="{BB962C8B-B14F-4D97-AF65-F5344CB8AC3E}">
        <p14:creationId xmlns:p14="http://schemas.microsoft.com/office/powerpoint/2010/main" val="2249670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F034A-04A8-704F-8735-CF95C931C257}"/>
              </a:ext>
            </a:extLst>
          </p:cNvPr>
          <p:cNvSpPr>
            <a:spLocks noGrp="1"/>
          </p:cNvSpPr>
          <p:nvPr>
            <p:ph type="title"/>
          </p:nvPr>
        </p:nvSpPr>
        <p:spPr>
          <a:xfrm>
            <a:off x="341526" y="0"/>
            <a:ext cx="10905594" cy="1695131"/>
          </a:xfrm>
        </p:spPr>
        <p:txBody>
          <a:bodyPr/>
          <a:lstStyle/>
          <a:p>
            <a:r>
              <a:rPr lang="en-US" sz="4800"/>
              <a:t>Product Overview &amp; Mission</a:t>
            </a:r>
          </a:p>
        </p:txBody>
      </p:sp>
    </p:spTree>
    <p:extLst>
      <p:ext uri="{BB962C8B-B14F-4D97-AF65-F5344CB8AC3E}">
        <p14:creationId xmlns:p14="http://schemas.microsoft.com/office/powerpoint/2010/main" val="1158855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4842E0-DC14-E71A-DDB4-60FEE1490689}"/>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TOOLS Used</a:t>
            </a:r>
            <a:endParaRPr lang="en-US" err="1"/>
          </a:p>
        </p:txBody>
      </p:sp>
      <p:sp>
        <p:nvSpPr>
          <p:cNvPr id="39" name="Content Placeholder 18">
            <a:extLst>
              <a:ext uri="{FF2B5EF4-FFF2-40B4-BE49-F238E27FC236}">
                <a16:creationId xmlns:a16="http://schemas.microsoft.com/office/drawing/2014/main" id="{91EA5375-E473-F3B3-6AC2-97A7BE740B8D}"/>
              </a:ext>
            </a:extLst>
          </p:cNvPr>
          <p:cNvSpPr txBox="1">
            <a:spLocks/>
          </p:cNvSpPr>
          <p:nvPr/>
        </p:nvSpPr>
        <p:spPr>
          <a:xfrm>
            <a:off x="568518" y="1885865"/>
            <a:ext cx="7938994" cy="3519380"/>
          </a:xfrm>
          <a:prstGeom prst="rect">
            <a:avLst/>
          </a:prstGeom>
        </p:spPr>
        <p:txBody>
          <a:bodyPr vert="horz" lIns="91440" tIns="45720" rIns="91440" bIns="45720" rtlCol="0" anchor="t">
            <a:noAutofit/>
          </a:bodyP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Bef>
                <a:spcPct val="20000"/>
              </a:spcBef>
              <a:spcAft>
                <a:spcPts val="600"/>
              </a:spcAft>
            </a:pPr>
            <a:r>
              <a:rPr lang="en-US" sz="2600" b="1" dirty="0">
                <a:solidFill>
                  <a:srgbClr val="632E62"/>
                </a:solidFill>
              </a:rPr>
              <a:t>Programming Language: </a:t>
            </a:r>
            <a:r>
              <a:rPr lang="en-US" sz="2600" dirty="0">
                <a:solidFill>
                  <a:srgbClr val="632E62"/>
                </a:solidFill>
              </a:rPr>
              <a:t>Python 3.13.7</a:t>
            </a:r>
            <a:endParaRPr lang="en-US" sz="2600" dirty="0"/>
          </a:p>
          <a:p>
            <a:pPr algn="l">
              <a:spcBef>
                <a:spcPct val="20000"/>
              </a:spcBef>
              <a:spcAft>
                <a:spcPts val="600"/>
              </a:spcAft>
            </a:pPr>
            <a:r>
              <a:rPr lang="en-US" sz="2600" b="1" dirty="0">
                <a:solidFill>
                  <a:srgbClr val="632E62"/>
                </a:solidFill>
              </a:rPr>
              <a:t>Web Server Framework: </a:t>
            </a:r>
            <a:r>
              <a:rPr lang="en-US" sz="2600" dirty="0">
                <a:solidFill>
                  <a:srgbClr val="632E62"/>
                </a:solidFill>
              </a:rPr>
              <a:t>Flask 3.1.2</a:t>
            </a:r>
            <a:endParaRPr lang="en-US" sz="2600" dirty="0"/>
          </a:p>
          <a:p>
            <a:pPr algn="l">
              <a:spcBef>
                <a:spcPct val="20000"/>
              </a:spcBef>
              <a:spcAft>
                <a:spcPts val="600"/>
              </a:spcAft>
            </a:pPr>
            <a:r>
              <a:rPr lang="en-US" sz="2600" b="1" dirty="0">
                <a:solidFill>
                  <a:srgbClr val="632E62"/>
                </a:solidFill>
              </a:rPr>
              <a:t>Database: </a:t>
            </a:r>
            <a:r>
              <a:rPr lang="en-US" sz="2600" dirty="0">
                <a:solidFill>
                  <a:srgbClr val="632E62"/>
                </a:solidFill>
              </a:rPr>
              <a:t>MySQL 8.0.43</a:t>
            </a:r>
            <a:endParaRPr lang="en-US" sz="2600" dirty="0"/>
          </a:p>
          <a:p>
            <a:pPr algn="l">
              <a:spcBef>
                <a:spcPct val="20000"/>
              </a:spcBef>
              <a:spcAft>
                <a:spcPts val="600"/>
              </a:spcAft>
            </a:pPr>
            <a:r>
              <a:rPr lang="en-US" sz="2600" b="1" dirty="0">
                <a:solidFill>
                  <a:srgbClr val="632E62"/>
                </a:solidFill>
              </a:rPr>
              <a:t>Database Configuration: </a:t>
            </a:r>
            <a:r>
              <a:rPr lang="en-US" sz="2600" dirty="0">
                <a:solidFill>
                  <a:srgbClr val="632E62"/>
                </a:solidFill>
              </a:rPr>
              <a:t>MySQL Workbench 8.0.36</a:t>
            </a:r>
          </a:p>
          <a:p>
            <a:pPr algn="l">
              <a:spcBef>
                <a:spcPct val="20000"/>
              </a:spcBef>
              <a:spcAft>
                <a:spcPts val="600"/>
              </a:spcAft>
            </a:pPr>
            <a:r>
              <a:rPr lang="en-US" sz="2600" b="1" dirty="0">
                <a:solidFill>
                  <a:srgbClr val="632E62"/>
                </a:solidFill>
              </a:rPr>
              <a:t>Documentation: </a:t>
            </a:r>
            <a:r>
              <a:rPr lang="en-US" sz="2600" dirty="0">
                <a:solidFill>
                  <a:srgbClr val="632E62"/>
                </a:solidFill>
              </a:rPr>
              <a:t>Sphinx 7.2.6</a:t>
            </a:r>
          </a:p>
          <a:p>
            <a:pPr algn="l">
              <a:spcBef>
                <a:spcPct val="20000"/>
              </a:spcBef>
              <a:spcAft>
                <a:spcPts val="600"/>
              </a:spcAft>
            </a:pPr>
            <a:r>
              <a:rPr lang="en-US" sz="2600" b="1" dirty="0">
                <a:solidFill>
                  <a:srgbClr val="632E62"/>
                </a:solidFill>
              </a:rPr>
              <a:t>Automated Testing: </a:t>
            </a:r>
            <a:r>
              <a:rPr lang="en-US" sz="2600" dirty="0">
                <a:solidFill>
                  <a:srgbClr val="632E62"/>
                </a:solidFill>
              </a:rPr>
              <a:t>Pytest 8.4.2</a:t>
            </a:r>
          </a:p>
          <a:p>
            <a:endParaRPr lang="en-US" b="1"/>
          </a:p>
        </p:txBody>
      </p:sp>
      <p:pic>
        <p:nvPicPr>
          <p:cNvPr id="41" name="Picture 4" descr="Flask SVG and transparent PNG icons ...">
            <a:extLst>
              <a:ext uri="{FF2B5EF4-FFF2-40B4-BE49-F238E27FC236}">
                <a16:creationId xmlns:a16="http://schemas.microsoft.com/office/drawing/2014/main" id="{3CD8E6C3-203C-78F6-A79F-4FAE7E3C7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3455" y="1942712"/>
            <a:ext cx="1037516" cy="103751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3" name="Picture 6" descr="A blue and yellow snake logo&#10;&#10;AI-generated content may be incorrect.">
            <a:extLst>
              <a:ext uri="{FF2B5EF4-FFF2-40B4-BE49-F238E27FC236}">
                <a16:creationId xmlns:a16="http://schemas.microsoft.com/office/drawing/2014/main" id="{216F47B2-FC54-1F12-9135-D60DED18D8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6823" y="1152013"/>
            <a:ext cx="1019175" cy="1119187"/>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5" name="Picture 8" descr="MySQL logo PNG transparent image ...">
            <a:extLst>
              <a:ext uri="{FF2B5EF4-FFF2-40B4-BE49-F238E27FC236}">
                <a16:creationId xmlns:a16="http://schemas.microsoft.com/office/drawing/2014/main" id="{DD45EAA8-72EC-3CE6-80D1-2A87B2C961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7267" y="2735859"/>
            <a:ext cx="1073075" cy="107307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8" name="Graphic 17" descr="logo">
            <a:extLst>
              <a:ext uri="{FF2B5EF4-FFF2-40B4-BE49-F238E27FC236}">
                <a16:creationId xmlns:a16="http://schemas.microsoft.com/office/drawing/2014/main" id="{EE220498-F820-D2E3-0E8E-35137CE206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7463" y="4099787"/>
            <a:ext cx="1194846" cy="838321"/>
          </a:xfrm>
          <a:prstGeom prst="rect">
            <a:avLst/>
          </a:prstGeom>
        </p:spPr>
      </p:pic>
      <p:pic>
        <p:nvPicPr>
          <p:cNvPr id="20" name="Picture 19" descr="Logo">
            <a:extLst>
              <a:ext uri="{FF2B5EF4-FFF2-40B4-BE49-F238E27FC236}">
                <a16:creationId xmlns:a16="http://schemas.microsoft.com/office/drawing/2014/main" id="{B4809573-88C0-2325-157F-2DDE0846A633}"/>
              </a:ext>
            </a:extLst>
          </p:cNvPr>
          <p:cNvPicPr>
            <a:picLocks noChangeAspect="1"/>
          </p:cNvPicPr>
          <p:nvPr/>
        </p:nvPicPr>
        <p:blipFill>
          <a:blip r:embed="rId8"/>
          <a:stretch>
            <a:fillRect/>
          </a:stretch>
        </p:blipFill>
        <p:spPr>
          <a:xfrm>
            <a:off x="7557304" y="4668455"/>
            <a:ext cx="1552937" cy="1543292"/>
          </a:xfrm>
          <a:prstGeom prst="rect">
            <a:avLst/>
          </a:prstGeom>
        </p:spPr>
      </p:pic>
    </p:spTree>
    <p:extLst>
      <p:ext uri="{BB962C8B-B14F-4D97-AF65-F5344CB8AC3E}">
        <p14:creationId xmlns:p14="http://schemas.microsoft.com/office/powerpoint/2010/main" val="2883157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81346-3EE5-90A5-5926-7E2051D26C60}"/>
            </a:ext>
          </a:extLst>
        </p:cNvPr>
        <p:cNvGrpSpPr/>
        <p:nvPr/>
      </p:nvGrpSpPr>
      <p:grpSpPr>
        <a:xfrm>
          <a:off x="0" y="0"/>
          <a:ext cx="0" cy="0"/>
          <a:chOff x="0" y="0"/>
          <a:chExt cx="0" cy="0"/>
        </a:xfrm>
      </p:grpSpPr>
      <p:pic>
        <p:nvPicPr>
          <p:cNvPr id="3" name="Picture 2" descr="A screen shot of a computer program&#10;&#10;AI-generated content may be incorrect.">
            <a:extLst>
              <a:ext uri="{FF2B5EF4-FFF2-40B4-BE49-F238E27FC236}">
                <a16:creationId xmlns:a16="http://schemas.microsoft.com/office/drawing/2014/main" id="{55008EF9-6338-1750-7B35-721FCE347BFC}"/>
              </a:ext>
            </a:extLst>
          </p:cNvPr>
          <p:cNvPicPr>
            <a:picLocks noChangeAspect="1"/>
          </p:cNvPicPr>
          <p:nvPr/>
        </p:nvPicPr>
        <p:blipFill>
          <a:blip r:embed="rId3"/>
          <a:stretch>
            <a:fillRect/>
          </a:stretch>
        </p:blipFill>
        <p:spPr>
          <a:xfrm>
            <a:off x="421166" y="1547893"/>
            <a:ext cx="5119284" cy="4963332"/>
          </a:xfrm>
          <a:prstGeom prst="rect">
            <a:avLst/>
          </a:prstGeom>
        </p:spPr>
      </p:pic>
      <p:sp>
        <p:nvSpPr>
          <p:cNvPr id="5" name="Title 4">
            <a:extLst>
              <a:ext uri="{FF2B5EF4-FFF2-40B4-BE49-F238E27FC236}">
                <a16:creationId xmlns:a16="http://schemas.microsoft.com/office/drawing/2014/main" id="{A5CBBBA5-6418-E783-2135-E81BF7974AD6}"/>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Flask webserver</a:t>
            </a:r>
            <a:endParaRPr lang="en-US"/>
          </a:p>
        </p:txBody>
      </p:sp>
      <p:pic>
        <p:nvPicPr>
          <p:cNvPr id="2" name="Picture 1" descr="A screenshot of a computer program&#10;&#10;AI-generated content may be incorrect.">
            <a:extLst>
              <a:ext uri="{FF2B5EF4-FFF2-40B4-BE49-F238E27FC236}">
                <a16:creationId xmlns:a16="http://schemas.microsoft.com/office/drawing/2014/main" id="{9ADE35E3-67D2-1882-4624-FCC949992422}"/>
              </a:ext>
            </a:extLst>
          </p:cNvPr>
          <p:cNvPicPr>
            <a:picLocks noChangeAspect="1"/>
          </p:cNvPicPr>
          <p:nvPr/>
        </p:nvPicPr>
        <p:blipFill>
          <a:blip r:embed="rId4"/>
          <a:stretch>
            <a:fillRect/>
          </a:stretch>
        </p:blipFill>
        <p:spPr>
          <a:xfrm>
            <a:off x="5711998" y="1557514"/>
            <a:ext cx="6131922" cy="4950466"/>
          </a:xfrm>
          <a:prstGeom prst="rect">
            <a:avLst/>
          </a:prstGeom>
        </p:spPr>
      </p:pic>
    </p:spTree>
    <p:extLst>
      <p:ext uri="{BB962C8B-B14F-4D97-AF65-F5344CB8AC3E}">
        <p14:creationId xmlns:p14="http://schemas.microsoft.com/office/powerpoint/2010/main" val="308475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program&#10;&#10;AI-generated content may be incorrect.">
            <a:extLst>
              <a:ext uri="{FF2B5EF4-FFF2-40B4-BE49-F238E27FC236}">
                <a16:creationId xmlns:a16="http://schemas.microsoft.com/office/drawing/2014/main" id="{93C5D7E0-9AA2-A438-08BA-8DB4FE6947A0}"/>
              </a:ext>
            </a:extLst>
          </p:cNvPr>
          <p:cNvPicPr>
            <a:picLocks noChangeAspect="1"/>
          </p:cNvPicPr>
          <p:nvPr/>
        </p:nvPicPr>
        <p:blipFill>
          <a:blip r:embed="rId2"/>
          <a:stretch>
            <a:fillRect/>
          </a:stretch>
        </p:blipFill>
        <p:spPr>
          <a:xfrm>
            <a:off x="572117" y="2072661"/>
            <a:ext cx="9867900" cy="3724275"/>
          </a:xfrm>
          <a:prstGeom prst="rect">
            <a:avLst/>
          </a:prstGeom>
        </p:spPr>
      </p:pic>
      <p:sp>
        <p:nvSpPr>
          <p:cNvPr id="5" name="Title 4">
            <a:extLst>
              <a:ext uri="{FF2B5EF4-FFF2-40B4-BE49-F238E27FC236}">
                <a16:creationId xmlns:a16="http://schemas.microsoft.com/office/drawing/2014/main" id="{57262ED9-C79D-EBBE-A81E-B33D5D0082AB}"/>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REQUEST CLASS</a:t>
            </a:r>
            <a:endParaRPr lang="en-US"/>
          </a:p>
        </p:txBody>
      </p:sp>
    </p:spTree>
    <p:extLst>
      <p:ext uri="{BB962C8B-B14F-4D97-AF65-F5344CB8AC3E}">
        <p14:creationId xmlns:p14="http://schemas.microsoft.com/office/powerpoint/2010/main" val="368799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text&#10;&#10;AI-generated content may be incorrect.">
            <a:extLst>
              <a:ext uri="{FF2B5EF4-FFF2-40B4-BE49-F238E27FC236}">
                <a16:creationId xmlns:a16="http://schemas.microsoft.com/office/drawing/2014/main" id="{23F20374-D560-20C4-C993-94BF278894D9}"/>
              </a:ext>
            </a:extLst>
          </p:cNvPr>
          <p:cNvPicPr>
            <a:picLocks noChangeAspect="1"/>
          </p:cNvPicPr>
          <p:nvPr/>
        </p:nvPicPr>
        <p:blipFill>
          <a:blip r:embed="rId2"/>
          <a:stretch>
            <a:fillRect/>
          </a:stretch>
        </p:blipFill>
        <p:spPr>
          <a:xfrm>
            <a:off x="568545" y="3678796"/>
            <a:ext cx="9820276" cy="2710913"/>
          </a:xfrm>
          <a:prstGeom prst="rect">
            <a:avLst/>
          </a:prstGeom>
        </p:spPr>
      </p:pic>
      <p:pic>
        <p:nvPicPr>
          <p:cNvPr id="6" name="Picture 5" descr="A computer code on a black background&#10;&#10;AI-generated content may be incorrect.">
            <a:extLst>
              <a:ext uri="{FF2B5EF4-FFF2-40B4-BE49-F238E27FC236}">
                <a16:creationId xmlns:a16="http://schemas.microsoft.com/office/drawing/2014/main" id="{B7936A51-15AF-2DE9-B1E4-3BF02E990F03}"/>
              </a:ext>
            </a:extLst>
          </p:cNvPr>
          <p:cNvPicPr>
            <a:picLocks noChangeAspect="1"/>
          </p:cNvPicPr>
          <p:nvPr/>
        </p:nvPicPr>
        <p:blipFill>
          <a:blip r:embed="rId3"/>
          <a:stretch>
            <a:fillRect/>
          </a:stretch>
        </p:blipFill>
        <p:spPr>
          <a:xfrm>
            <a:off x="564430" y="1713016"/>
            <a:ext cx="9802678" cy="1580020"/>
          </a:xfrm>
          <a:prstGeom prst="rect">
            <a:avLst/>
          </a:prstGeom>
        </p:spPr>
      </p:pic>
      <p:sp>
        <p:nvSpPr>
          <p:cNvPr id="5" name="Title 4">
            <a:extLst>
              <a:ext uri="{FF2B5EF4-FFF2-40B4-BE49-F238E27FC236}">
                <a16:creationId xmlns:a16="http://schemas.microsoft.com/office/drawing/2014/main" id="{2407354A-7F26-F84D-4643-5986F159E249}"/>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REQUEST VALIDATION</a:t>
            </a:r>
            <a:endParaRPr lang="en-US"/>
          </a:p>
        </p:txBody>
      </p:sp>
    </p:spTree>
    <p:extLst>
      <p:ext uri="{BB962C8B-B14F-4D97-AF65-F5344CB8AC3E}">
        <p14:creationId xmlns:p14="http://schemas.microsoft.com/office/powerpoint/2010/main" val="3272594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516BD6A8-96F3-B3BC-CA92-080473CF1069}"/>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AUTOMATED TESTING</a:t>
            </a:r>
            <a:endParaRPr lang="en-US"/>
          </a:p>
        </p:txBody>
      </p:sp>
      <p:pic>
        <p:nvPicPr>
          <p:cNvPr id="3" name="Picture 2" descr="A computer screen shot of a program code&#10;&#10;AI-generated content may be incorrect.">
            <a:extLst>
              <a:ext uri="{FF2B5EF4-FFF2-40B4-BE49-F238E27FC236}">
                <a16:creationId xmlns:a16="http://schemas.microsoft.com/office/drawing/2014/main" id="{59140FE8-B4E2-3321-79C4-8D9A3DACBE28}"/>
              </a:ext>
            </a:extLst>
          </p:cNvPr>
          <p:cNvPicPr>
            <a:picLocks noChangeAspect="1"/>
          </p:cNvPicPr>
          <p:nvPr/>
        </p:nvPicPr>
        <p:blipFill>
          <a:blip r:embed="rId2"/>
          <a:stretch>
            <a:fillRect/>
          </a:stretch>
        </p:blipFill>
        <p:spPr>
          <a:xfrm>
            <a:off x="568271" y="1492473"/>
            <a:ext cx="8963186" cy="4983764"/>
          </a:xfrm>
          <a:prstGeom prst="rect">
            <a:avLst/>
          </a:prstGeom>
        </p:spPr>
      </p:pic>
    </p:spTree>
    <p:extLst>
      <p:ext uri="{BB962C8B-B14F-4D97-AF65-F5344CB8AC3E}">
        <p14:creationId xmlns:p14="http://schemas.microsoft.com/office/powerpoint/2010/main" val="3174491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0B9D3-DA0B-76B3-9907-678167F94338}"/>
            </a:ext>
          </a:extLst>
        </p:cNvPr>
        <p:cNvGrpSpPr/>
        <p:nvPr/>
      </p:nvGrpSpPr>
      <p:grpSpPr>
        <a:xfrm>
          <a:off x="0" y="0"/>
          <a:ext cx="0" cy="0"/>
          <a:chOff x="0" y="0"/>
          <a:chExt cx="0" cy="0"/>
        </a:xfrm>
      </p:grpSpPr>
      <p:sp>
        <p:nvSpPr>
          <p:cNvPr id="3" name="Title 4">
            <a:extLst>
              <a:ext uri="{FF2B5EF4-FFF2-40B4-BE49-F238E27FC236}">
                <a16:creationId xmlns:a16="http://schemas.microsoft.com/office/drawing/2014/main" id="{CB9AE368-0849-44F3-8279-7BE8EE168963}"/>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DOCUMENTATION - Sphinx</a:t>
            </a:r>
            <a:endParaRPr lang="en-US"/>
          </a:p>
        </p:txBody>
      </p:sp>
      <p:pic>
        <p:nvPicPr>
          <p:cNvPr id="2" name="Graphic 1" descr="logo">
            <a:extLst>
              <a:ext uri="{FF2B5EF4-FFF2-40B4-BE49-F238E27FC236}">
                <a16:creationId xmlns:a16="http://schemas.microsoft.com/office/drawing/2014/main" id="{C3EB9A20-A4AA-8CD7-C08F-35FD3DC5F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30881" y="2170675"/>
            <a:ext cx="5120592" cy="3606598"/>
          </a:xfrm>
          <a:prstGeom prst="rect">
            <a:avLst/>
          </a:prstGeom>
        </p:spPr>
      </p:pic>
    </p:spTree>
    <p:extLst>
      <p:ext uri="{BB962C8B-B14F-4D97-AF65-F5344CB8AC3E}">
        <p14:creationId xmlns:p14="http://schemas.microsoft.com/office/powerpoint/2010/main" val="303241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5F7-DA58-C336-7C5F-5614574848CF}"/>
            </a:ext>
          </a:extLst>
        </p:cNvPr>
        <p:cNvGrpSpPr/>
        <p:nvPr/>
      </p:nvGrpSpPr>
      <p:grpSpPr>
        <a:xfrm>
          <a:off x="0" y="0"/>
          <a:ext cx="0" cy="0"/>
          <a:chOff x="0" y="0"/>
          <a:chExt cx="0" cy="0"/>
        </a:xfrm>
      </p:grpSpPr>
      <p:sp>
        <p:nvSpPr>
          <p:cNvPr id="3" name="Title 4">
            <a:extLst>
              <a:ext uri="{FF2B5EF4-FFF2-40B4-BE49-F238E27FC236}">
                <a16:creationId xmlns:a16="http://schemas.microsoft.com/office/drawing/2014/main" id="{7302EF2A-7140-3918-BD16-B29EB1747CE4}"/>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t>DOCUMENTATION - Sphinx</a:t>
            </a:r>
            <a:endParaRPr lang="en-US"/>
          </a:p>
        </p:txBody>
      </p:sp>
      <p:pic>
        <p:nvPicPr>
          <p:cNvPr id="4" name="Picture 3" descr="A computer screen shot of text&#10;&#10;AI-generated content may be incorrect.">
            <a:extLst>
              <a:ext uri="{FF2B5EF4-FFF2-40B4-BE49-F238E27FC236}">
                <a16:creationId xmlns:a16="http://schemas.microsoft.com/office/drawing/2014/main" id="{2119D5A6-0462-8F92-2D55-F4E3198AA000}"/>
              </a:ext>
            </a:extLst>
          </p:cNvPr>
          <p:cNvPicPr>
            <a:picLocks noChangeAspect="1"/>
          </p:cNvPicPr>
          <p:nvPr/>
        </p:nvPicPr>
        <p:blipFill>
          <a:blip r:embed="rId2"/>
          <a:stretch>
            <a:fillRect/>
          </a:stretch>
        </p:blipFill>
        <p:spPr>
          <a:xfrm>
            <a:off x="1820722" y="1557941"/>
            <a:ext cx="8560200" cy="2729334"/>
          </a:xfrm>
          <a:prstGeom prst="rect">
            <a:avLst/>
          </a:prstGeom>
        </p:spPr>
      </p:pic>
      <p:pic>
        <p:nvPicPr>
          <p:cNvPr id="6" name="Picture 5" descr="A close up of text&#10;&#10;AI-generated content may be incorrect.">
            <a:extLst>
              <a:ext uri="{FF2B5EF4-FFF2-40B4-BE49-F238E27FC236}">
                <a16:creationId xmlns:a16="http://schemas.microsoft.com/office/drawing/2014/main" id="{44DBC37C-9107-0BF0-413F-D667482706AC}"/>
              </a:ext>
            </a:extLst>
          </p:cNvPr>
          <p:cNvPicPr>
            <a:picLocks noChangeAspect="1"/>
          </p:cNvPicPr>
          <p:nvPr/>
        </p:nvPicPr>
        <p:blipFill>
          <a:blip r:embed="rId3"/>
          <a:stretch>
            <a:fillRect/>
          </a:stretch>
        </p:blipFill>
        <p:spPr>
          <a:xfrm>
            <a:off x="1395352" y="4556623"/>
            <a:ext cx="9410940" cy="1882211"/>
          </a:xfrm>
          <a:prstGeom prst="rect">
            <a:avLst/>
          </a:prstGeom>
        </p:spPr>
      </p:pic>
    </p:spTree>
    <p:extLst>
      <p:ext uri="{BB962C8B-B14F-4D97-AF65-F5344CB8AC3E}">
        <p14:creationId xmlns:p14="http://schemas.microsoft.com/office/powerpoint/2010/main" val="1859507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B0BD3E-C6B0-A013-0EAD-E8C70D8A9FF0}"/>
              </a:ext>
            </a:extLst>
          </p:cNvPr>
          <p:cNvSpPr>
            <a:spLocks noGrp="1"/>
          </p:cNvSpPr>
          <p:nvPr/>
        </p:nvSpPr>
        <p:spPr>
          <a:xfrm>
            <a:off x="762121" y="960723"/>
            <a:ext cx="4968489" cy="1013800"/>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pPr defTabSz="457200">
              <a:spcAft>
                <a:spcPts val="600"/>
              </a:spcAft>
            </a:pPr>
            <a:r>
              <a:rPr lang="en-US" sz="2800" b="0">
                <a:solidFill>
                  <a:srgbClr val="FFFFFF"/>
                </a:solidFill>
              </a:rPr>
              <a:t>DATABASE</a:t>
            </a:r>
          </a:p>
        </p:txBody>
      </p:sp>
      <p:sp>
        <p:nvSpPr>
          <p:cNvPr id="6" name="Rectangle 5">
            <a:extLst>
              <a:ext uri="{FF2B5EF4-FFF2-40B4-BE49-F238E27FC236}">
                <a16:creationId xmlns:a16="http://schemas.microsoft.com/office/drawing/2014/main" id="{D753CE49-217B-D455-3478-EE485D64CB3E}"/>
              </a:ext>
            </a:extLst>
          </p:cNvPr>
          <p:cNvSpPr/>
          <p:nvPr/>
        </p:nvSpPr>
        <p:spPr>
          <a:xfrm>
            <a:off x="443311" y="619261"/>
            <a:ext cx="5706529" cy="5612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578C986-F158-764A-3980-B1F5F5868AB8}"/>
              </a:ext>
            </a:extLst>
          </p:cNvPr>
          <p:cNvSpPr txBox="1"/>
          <p:nvPr/>
        </p:nvSpPr>
        <p:spPr>
          <a:xfrm>
            <a:off x="6313699" y="2245664"/>
            <a:ext cx="4947221" cy="3650344"/>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marL="285750"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 User Access</a:t>
            </a:r>
          </a:p>
          <a:p>
            <a:pPr marL="742950" lvl="1"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Created different user accounts with limited access.</a:t>
            </a:r>
          </a:p>
          <a:p>
            <a:pPr marL="742950" lvl="1"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Regular employees can only view data.</a:t>
            </a:r>
          </a:p>
          <a:p>
            <a:pPr marL="742950" lvl="1"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Managers have full access to add, update, and delete.</a:t>
            </a:r>
          </a:p>
          <a:p>
            <a:pPr marL="285750"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 Clean Data Handling</a:t>
            </a:r>
          </a:p>
          <a:p>
            <a:pPr marL="742950" lvl="1"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Set up the database so that when a license ID is deleted, related data in other tables is also removed automatically.</a:t>
            </a:r>
          </a:p>
          <a:p>
            <a:pPr marL="285750"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 Tools Used</a:t>
            </a:r>
          </a:p>
          <a:p>
            <a:pPr marL="742950" lvl="1"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Used MySQL for building and managing the database.</a:t>
            </a:r>
          </a:p>
          <a:p>
            <a:pPr marL="285750"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 Setup Scripts</a:t>
            </a:r>
          </a:p>
          <a:p>
            <a:pPr marL="742950" lvl="1"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Wrote two SQL scripts:</a:t>
            </a:r>
          </a:p>
          <a:p>
            <a:pPr marL="1200150" lvl="2"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One to create tables and set rules.</a:t>
            </a:r>
          </a:p>
          <a:p>
            <a:pPr marL="1200150" lvl="2" indent="-285750">
              <a:lnSpc>
                <a:spcPct val="90000"/>
              </a:lnSpc>
              <a:spcBef>
                <a:spcPct val="20000"/>
              </a:spcBef>
              <a:spcAft>
                <a:spcPts val="600"/>
              </a:spcAft>
              <a:buClr>
                <a:schemeClr val="accent2"/>
              </a:buClr>
              <a:buSzPct val="92000"/>
              <a:buFont typeface="Wingdings 2" panose="05020102010507070707" pitchFamily="18" charset="2"/>
              <a:buChar char=""/>
            </a:pPr>
            <a:r>
              <a:rPr lang="en-US" sz="1500">
                <a:solidFill>
                  <a:schemeClr val="bg1"/>
                </a:solidFill>
              </a:rPr>
              <a:t>One to insert sample data for testing.</a:t>
            </a:r>
          </a:p>
        </p:txBody>
      </p:sp>
      <p:pic>
        <p:nvPicPr>
          <p:cNvPr id="4" name="Picture 3" descr="A logo of a dolphin&#10;&#10;AI-generated content may be incorrect.">
            <a:extLst>
              <a:ext uri="{FF2B5EF4-FFF2-40B4-BE49-F238E27FC236}">
                <a16:creationId xmlns:a16="http://schemas.microsoft.com/office/drawing/2014/main" id="{DEBAE188-596C-6935-CC05-3602C711166F}"/>
              </a:ext>
            </a:extLst>
          </p:cNvPr>
          <p:cNvPicPr>
            <a:picLocks noChangeAspect="1"/>
          </p:cNvPicPr>
          <p:nvPr/>
        </p:nvPicPr>
        <p:blipFill>
          <a:blip r:embed="rId2"/>
          <a:stretch>
            <a:fillRect/>
          </a:stretch>
        </p:blipFill>
        <p:spPr>
          <a:xfrm>
            <a:off x="788781" y="1593571"/>
            <a:ext cx="4945656" cy="4945656"/>
          </a:xfrm>
          <a:prstGeom prst="rect">
            <a:avLst/>
          </a:prstGeom>
        </p:spPr>
      </p:pic>
      <p:sp>
        <p:nvSpPr>
          <p:cNvPr id="8" name="Title 4">
            <a:extLst>
              <a:ext uri="{FF2B5EF4-FFF2-40B4-BE49-F238E27FC236}">
                <a16:creationId xmlns:a16="http://schemas.microsoft.com/office/drawing/2014/main" id="{98307344-ED38-55BC-BD50-2A2C6884690C}"/>
              </a:ext>
            </a:extLst>
          </p:cNvPr>
          <p:cNvSpPr>
            <a:spLocks noGrp="1"/>
          </p:cNvSpPr>
          <p:nvPr/>
        </p:nvSpPr>
        <p:spPr>
          <a:xfrm>
            <a:off x="568003" y="732306"/>
            <a:ext cx="11065458" cy="618456"/>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i="0" kern="1200" cap="all" spc="700" baseline="0">
                <a:solidFill>
                  <a:schemeClr val="tx1"/>
                </a:solidFill>
                <a:latin typeface="+mj-lt"/>
                <a:ea typeface="+mj-ea"/>
                <a:cs typeface="+mj-cs"/>
              </a:defRPr>
            </a:lvl1pPr>
          </a:lstStyle>
          <a:p>
            <a:r>
              <a:rPr lang="en-US" sz="4500">
                <a:solidFill>
                  <a:schemeClr val="bg1"/>
                </a:solidFill>
              </a:rPr>
              <a:t>DATABASE</a:t>
            </a:r>
            <a:endParaRPr lang="en-US">
              <a:solidFill>
                <a:schemeClr val="bg1"/>
              </a:solidFill>
            </a:endParaRPr>
          </a:p>
        </p:txBody>
      </p:sp>
    </p:spTree>
    <p:extLst>
      <p:ext uri="{BB962C8B-B14F-4D97-AF65-F5344CB8AC3E}">
        <p14:creationId xmlns:p14="http://schemas.microsoft.com/office/powerpoint/2010/main" val="2833021414"/>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37710-27B1-7452-6813-54DD0FFF7F9A}"/>
              </a:ext>
            </a:extLst>
          </p:cNvPr>
          <p:cNvSpPr>
            <a:spLocks noGrp="1"/>
          </p:cNvSpPr>
          <p:nvPr>
            <p:ph type="title"/>
          </p:nvPr>
        </p:nvSpPr>
        <p:spPr/>
        <p:txBody>
          <a:bodyPr anchor="ctr">
            <a:normAutofit/>
          </a:bodyPr>
          <a:lstStyle/>
          <a:p>
            <a:pPr algn="ctr"/>
            <a:r>
              <a:rPr lang="en-US" sz="3600"/>
              <a:t>License DAO</a:t>
            </a:r>
          </a:p>
        </p:txBody>
      </p:sp>
      <p:sp>
        <p:nvSpPr>
          <p:cNvPr id="3" name="Text Placeholder 2">
            <a:extLst>
              <a:ext uri="{FF2B5EF4-FFF2-40B4-BE49-F238E27FC236}">
                <a16:creationId xmlns:a16="http://schemas.microsoft.com/office/drawing/2014/main" id="{9799AA32-D6BB-EBC0-21E6-536450D15327}"/>
              </a:ext>
            </a:extLst>
          </p:cNvPr>
          <p:cNvSpPr>
            <a:spLocks noGrp="1"/>
          </p:cNvSpPr>
          <p:nvPr>
            <p:ph type="body" idx="1"/>
          </p:nvPr>
        </p:nvSpPr>
        <p:spPr>
          <a:xfrm>
            <a:off x="1332804" y="1946092"/>
            <a:ext cx="5087075" cy="536005"/>
          </a:xfrm>
        </p:spPr>
        <p:txBody>
          <a:bodyPr/>
          <a:lstStyle/>
          <a:p>
            <a:r>
              <a:rPr lang="en-US"/>
              <a:t>Architecture &amp; Functionality</a:t>
            </a:r>
          </a:p>
        </p:txBody>
      </p:sp>
      <p:sp>
        <p:nvSpPr>
          <p:cNvPr id="4" name="Content Placeholder 3">
            <a:extLst>
              <a:ext uri="{FF2B5EF4-FFF2-40B4-BE49-F238E27FC236}">
                <a16:creationId xmlns:a16="http://schemas.microsoft.com/office/drawing/2014/main" id="{F57ABEEA-B701-A646-2D0D-0F7C2F2F03F0}"/>
              </a:ext>
            </a:extLst>
          </p:cNvPr>
          <p:cNvSpPr>
            <a:spLocks noGrp="1"/>
          </p:cNvSpPr>
          <p:nvPr>
            <p:ph sz="half" idx="2"/>
          </p:nvPr>
        </p:nvSpPr>
        <p:spPr>
          <a:xfrm>
            <a:off x="483883" y="2582496"/>
            <a:ext cx="5393100" cy="3931947"/>
          </a:xfrm>
        </p:spPr>
        <p:txBody>
          <a:bodyPr>
            <a:normAutofit fontScale="85000" lnSpcReduction="20000"/>
          </a:bodyPr>
          <a:lstStyle/>
          <a:p>
            <a:pPr marL="305435" indent="-305435"/>
            <a:r>
              <a:rPr lang="en-US" sz="2300" b="1"/>
              <a:t>Purpose of DAO</a:t>
            </a:r>
            <a:r>
              <a:rPr lang="en-US" sz="2300"/>
              <a:t>:  Acts as an abstraction layer between the application and the database. It encapsulates all the logic for accessing data, so other parts of the system don’t need to know how the data is stored or retrieved.</a:t>
            </a:r>
            <a:endParaRPr lang="en-US"/>
          </a:p>
          <a:p>
            <a:pPr marL="305435" indent="-305435"/>
            <a:r>
              <a:rPr lang="en-US" sz="2300" b="1"/>
              <a:t>Data Operations:</a:t>
            </a:r>
          </a:p>
          <a:p>
            <a:pPr marL="629920" lvl="1" indent="-305435"/>
            <a:r>
              <a:rPr lang="en-US" sz="2300" b="1"/>
              <a:t>AddLicense: </a:t>
            </a:r>
            <a:r>
              <a:rPr lang="en-US" sz="2300"/>
              <a:t>Inserts license data and optional metadata into multiple tables.</a:t>
            </a:r>
          </a:p>
          <a:p>
            <a:pPr marL="629920" lvl="1" indent="-305435"/>
            <a:r>
              <a:rPr lang="en-US" sz="2300" b="1"/>
              <a:t>DeleteLicense: </a:t>
            </a:r>
            <a:r>
              <a:rPr lang="en-US" sz="2300"/>
              <a:t>Removes license records from database tables.</a:t>
            </a:r>
          </a:p>
          <a:p>
            <a:pPr marL="629920" lvl="1" indent="-305435"/>
            <a:r>
              <a:rPr lang="en-US" sz="2300" b="1"/>
              <a:t>SeeLicenses: </a:t>
            </a:r>
            <a:r>
              <a:rPr lang="en-US" sz="2300"/>
              <a:t>Retrieves and compiles license data from multiple joined tables.</a:t>
            </a:r>
          </a:p>
          <a:p>
            <a:pPr marL="305435" indent="-305435"/>
            <a:endParaRPr lang="en-US"/>
          </a:p>
        </p:txBody>
      </p:sp>
      <p:sp>
        <p:nvSpPr>
          <p:cNvPr id="5" name="Text Placeholder 4">
            <a:extLst>
              <a:ext uri="{FF2B5EF4-FFF2-40B4-BE49-F238E27FC236}">
                <a16:creationId xmlns:a16="http://schemas.microsoft.com/office/drawing/2014/main" id="{FCBEA947-B366-6FAC-8AE5-44E6D180C992}"/>
              </a:ext>
            </a:extLst>
          </p:cNvPr>
          <p:cNvSpPr>
            <a:spLocks noGrp="1"/>
          </p:cNvSpPr>
          <p:nvPr>
            <p:ph type="body" sz="quarter" idx="3"/>
          </p:nvPr>
        </p:nvSpPr>
        <p:spPr>
          <a:xfrm>
            <a:off x="6914261" y="1937407"/>
            <a:ext cx="5087073" cy="553373"/>
          </a:xfrm>
        </p:spPr>
        <p:txBody>
          <a:bodyPr/>
          <a:lstStyle/>
          <a:p>
            <a:r>
              <a:rPr lang="en-US"/>
              <a:t>DAO interaction with other modules</a:t>
            </a:r>
          </a:p>
        </p:txBody>
      </p:sp>
      <p:sp>
        <p:nvSpPr>
          <p:cNvPr id="22" name="Content Placeholder 3">
            <a:extLst>
              <a:ext uri="{FF2B5EF4-FFF2-40B4-BE49-F238E27FC236}">
                <a16:creationId xmlns:a16="http://schemas.microsoft.com/office/drawing/2014/main" id="{8AAF60F9-5C7A-08A1-2898-3EA1E68F88F7}"/>
              </a:ext>
            </a:extLst>
          </p:cNvPr>
          <p:cNvSpPr txBox="1">
            <a:spLocks/>
          </p:cNvSpPr>
          <p:nvPr/>
        </p:nvSpPr>
        <p:spPr>
          <a:xfrm>
            <a:off x="6181725" y="2482097"/>
            <a:ext cx="5905499" cy="3931947"/>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b="1"/>
              <a:t>Credentials Manager Module:</a:t>
            </a:r>
            <a:r>
              <a:rPr lang="en-US" sz="2000"/>
              <a:t> Ensures only authorized users can perform certain actions by checking permissions before executing queries.</a:t>
            </a:r>
          </a:p>
          <a:p>
            <a:r>
              <a:rPr lang="en-US" sz="2000" b="1"/>
              <a:t>User Request Module: </a:t>
            </a:r>
            <a:r>
              <a:rPr lang="en-US" sz="2000"/>
              <a:t>Provides cleaned and validated input data to the DAO. It abstracts away raw user input and ensures data integrity.</a:t>
            </a:r>
          </a:p>
          <a:p>
            <a:r>
              <a:rPr lang="en-US" sz="2000" b="1"/>
              <a:t>Logger Module: </a:t>
            </a:r>
            <a:r>
              <a:rPr lang="en-US" sz="2000"/>
              <a:t>Captures errors and important events during DAO operations, aiding in debugging and monitoring.</a:t>
            </a:r>
          </a:p>
          <a:p>
            <a:r>
              <a:rPr lang="en-US" sz="2000" b="1"/>
              <a:t>Settings Module: </a:t>
            </a:r>
            <a:r>
              <a:rPr lang="en-US" sz="2000"/>
              <a:t>Supplies configuration details like database credentials, keeping sensitive info out of the codebase.</a:t>
            </a:r>
          </a:p>
        </p:txBody>
      </p:sp>
    </p:spTree>
    <p:extLst>
      <p:ext uri="{BB962C8B-B14F-4D97-AF65-F5344CB8AC3E}">
        <p14:creationId xmlns:p14="http://schemas.microsoft.com/office/powerpoint/2010/main" val="3319473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4A1886-4BC9-B3B4-0303-63A29C5A8925}"/>
              </a:ext>
            </a:extLst>
          </p:cNvPr>
          <p:cNvPicPr>
            <a:picLocks noChangeAspect="1"/>
          </p:cNvPicPr>
          <p:nvPr/>
        </p:nvPicPr>
        <p:blipFill>
          <a:blip r:embed="rId3"/>
          <a:stretch>
            <a:fillRect/>
          </a:stretch>
        </p:blipFill>
        <p:spPr>
          <a:xfrm>
            <a:off x="193099" y="1403643"/>
            <a:ext cx="6303975" cy="3942936"/>
          </a:xfrm>
          <a:prstGeom prst="rect">
            <a:avLst/>
          </a:prstGeom>
        </p:spPr>
      </p:pic>
      <p:sp>
        <p:nvSpPr>
          <p:cNvPr id="9" name="Rectangle 2">
            <a:extLst>
              <a:ext uri="{FF2B5EF4-FFF2-40B4-BE49-F238E27FC236}">
                <a16:creationId xmlns:a16="http://schemas.microsoft.com/office/drawing/2014/main" id="{A32D745A-8B28-2EF2-6D4A-7CD15DC838AA}"/>
              </a:ext>
            </a:extLst>
          </p:cNvPr>
          <p:cNvSpPr>
            <a:spLocks noChangeArrowheads="1"/>
          </p:cNvSpPr>
          <p:nvPr/>
        </p:nvSpPr>
        <p:spPr bwMode="auto">
          <a:xfrm>
            <a:off x="6744758" y="1335976"/>
            <a:ext cx="488022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Arial" panose="020B0604020202020204" pitchFamily="34" charset="0"/>
              </a:rPr>
              <a:t>Purpose</a:t>
            </a:r>
            <a:r>
              <a:rPr kumimoji="0" lang="en-US" altLang="en-US" sz="1600" b="0" i="0" u="none" strike="noStrike" cap="none" normalizeH="0" baseline="0">
                <a:ln>
                  <a:noFill/>
                </a:ln>
                <a:solidFill>
                  <a:schemeClr val="tx1"/>
                </a:solidFill>
                <a:effectLst/>
                <a:latin typeface="Arial" panose="020B0604020202020204" pitchFamily="34" charset="0"/>
              </a:rPr>
              <a:t>: The </a:t>
            </a:r>
            <a:r>
              <a:rPr kumimoji="0" lang="en-US" altLang="en-US" sz="1600" b="0" i="0" u="none" strike="noStrike" cap="none" normalizeH="0" baseline="0">
                <a:ln>
                  <a:noFill/>
                </a:ln>
                <a:solidFill>
                  <a:schemeClr val="tx1"/>
                </a:solidFill>
                <a:effectLst/>
                <a:latin typeface="Arial Unicode MS"/>
              </a:rPr>
              <a:t>__</a:t>
            </a:r>
            <a:r>
              <a:rPr kumimoji="0" lang="en-US" altLang="en-US" sz="1600" b="0" i="0" u="none" strike="noStrike" cap="none" normalizeH="0" baseline="0" err="1">
                <a:ln>
                  <a:noFill/>
                </a:ln>
                <a:solidFill>
                  <a:schemeClr val="tx1"/>
                </a:solidFill>
                <a:effectLst/>
                <a:latin typeface="Arial Unicode MS"/>
              </a:rPr>
              <a:t>init</a:t>
            </a:r>
            <a:r>
              <a:rPr kumimoji="0" lang="en-US" altLang="en-US" sz="1600" b="0" i="0" u="none" strike="noStrike" cap="none" normalizeH="0" baseline="0">
                <a:ln>
                  <a:noFill/>
                </a:ln>
                <a:solidFill>
                  <a:schemeClr val="tx1"/>
                </a:solidFill>
                <a:effectLst/>
                <a:latin typeface="Arial Unicode MS"/>
              </a:rPr>
              <a:t>__</a:t>
            </a:r>
            <a:r>
              <a:rPr kumimoji="0" lang="en-US" altLang="en-US" sz="1600" b="0" i="0" u="none" strike="noStrike" cap="none" normalizeH="0" baseline="0">
                <a:ln>
                  <a:noFill/>
                </a:ln>
                <a:solidFill>
                  <a:schemeClr val="tx1"/>
                </a:solidFill>
                <a:effectLst/>
              </a:rPr>
              <a:t> method is responsible for securely establishing a connection to the MySQL database when the </a:t>
            </a:r>
            <a:r>
              <a:rPr kumimoji="0" lang="en-US" altLang="en-US" sz="1600" b="0" i="0" u="none" strike="noStrike" cap="none" normalizeH="0" baseline="0" err="1">
                <a:ln>
                  <a:noFill/>
                </a:ln>
                <a:solidFill>
                  <a:schemeClr val="tx1"/>
                </a:solidFill>
                <a:effectLst/>
                <a:latin typeface="Arial Unicode MS"/>
              </a:rPr>
              <a:t>LicenseDAO</a:t>
            </a:r>
            <a:r>
              <a:rPr kumimoji="0" lang="en-US" altLang="en-US" sz="1600" b="0" i="0" u="none" strike="noStrike" cap="none" normalizeH="0" baseline="0">
                <a:ln>
                  <a:noFill/>
                </a:ln>
                <a:solidFill>
                  <a:schemeClr val="tx1"/>
                </a:solidFill>
                <a:effectLst/>
              </a:rPr>
              <a:t> class is instantiated.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Arial" panose="020B0604020202020204" pitchFamily="34" charset="0"/>
              </a:rPr>
              <a:t>Configuration-Driven</a:t>
            </a:r>
            <a:r>
              <a:rPr kumimoji="0" lang="en-US" altLang="en-US" sz="1600" b="0" i="0" u="none" strike="noStrike" cap="none" normalizeH="0" baseline="0">
                <a:ln>
                  <a:noFill/>
                </a:ln>
                <a:solidFill>
                  <a:schemeClr val="tx1"/>
                </a:solidFill>
                <a:effectLst/>
                <a:latin typeface="Arial" panose="020B0604020202020204" pitchFamily="34" charset="0"/>
              </a:rPr>
              <a:t>: It reads database credentials from a centralized configuration file, which promotes security and flexibility. This means credentials aren’t hardcoded, making it easier to manage across environments (e.g., dev, test, prod).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Arial" panose="020B0604020202020204" pitchFamily="34" charset="0"/>
              </a:rPr>
              <a:t>Shared Resources</a:t>
            </a:r>
            <a:r>
              <a:rPr kumimoji="0" lang="en-US" altLang="en-US" sz="1600" b="0" i="0" u="none" strike="noStrike" cap="none" normalizeH="0" baseline="0">
                <a:ln>
                  <a:noFill/>
                </a:ln>
                <a:solidFill>
                  <a:schemeClr val="tx1"/>
                </a:solidFill>
                <a:effectLst/>
                <a:latin typeface="Arial" panose="020B0604020202020204" pitchFamily="34" charset="0"/>
              </a:rPr>
              <a:t>: The method sets up a shared connection and cursor at the class level, ensuring consistent access to the database across all DAO methods.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Arial" panose="020B0604020202020204" pitchFamily="34" charset="0"/>
              </a:rPr>
              <a:t>Error Handling</a:t>
            </a:r>
            <a:r>
              <a:rPr kumimoji="0" lang="en-US" altLang="en-US" sz="1600" b="0" i="0" u="none" strike="noStrike" cap="none" normalizeH="0" baseline="0">
                <a:ln>
                  <a:noFill/>
                </a:ln>
                <a:solidFill>
                  <a:schemeClr val="tx1"/>
                </a:solidFill>
                <a:effectLst/>
                <a:latin typeface="Arial" panose="020B0604020202020204" pitchFamily="34" charset="0"/>
              </a:rPr>
              <a:t>: It includes safeguards to catch issues like missing config files, invalid JSON, or connection failures — helping prevent runtime crashes and making debugging easier.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329446E4-5D4B-8821-97AA-15EBE3808F7F}"/>
              </a:ext>
            </a:extLst>
          </p:cNvPr>
          <p:cNvSpPr txBox="1"/>
          <p:nvPr/>
        </p:nvSpPr>
        <p:spPr>
          <a:xfrm>
            <a:off x="362230" y="551090"/>
            <a:ext cx="8388349" cy="784830"/>
          </a:xfrm>
          <a:prstGeom prst="rect">
            <a:avLst/>
          </a:prstGeom>
          <a:noFill/>
        </p:spPr>
        <p:txBody>
          <a:bodyPr wrap="square" lIns="91440" tIns="45720" rIns="91440" bIns="45720" rtlCol="0" anchor="t">
            <a:spAutoFit/>
          </a:bodyPr>
          <a:lstStyle/>
          <a:p>
            <a:r>
              <a:rPr lang="en-US" sz="4500" b="1" cap="all" spc="700">
                <a:latin typeface="+mj-lt"/>
                <a:ea typeface="+mj-ea"/>
                <a:cs typeface="+mj-cs"/>
              </a:rPr>
              <a:t>DAO Initialization</a:t>
            </a:r>
          </a:p>
        </p:txBody>
      </p:sp>
    </p:spTree>
    <p:extLst>
      <p:ext uri="{BB962C8B-B14F-4D97-AF65-F5344CB8AC3E}">
        <p14:creationId xmlns:p14="http://schemas.microsoft.com/office/powerpoint/2010/main" val="27523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8131A6-8CDC-EAF4-58DA-711196CDF0FC}"/>
              </a:ext>
            </a:extLst>
          </p:cNvPr>
          <p:cNvPicPr>
            <a:picLocks noChangeAspect="1"/>
          </p:cNvPicPr>
          <p:nvPr/>
        </p:nvPicPr>
        <p:blipFill>
          <a:blip r:embed="rId3"/>
          <a:stretch>
            <a:fillRect/>
          </a:stretch>
        </p:blipFill>
        <p:spPr>
          <a:xfrm>
            <a:off x="323289" y="1434294"/>
            <a:ext cx="6005500" cy="3794416"/>
          </a:xfrm>
          <a:prstGeom prst="rect">
            <a:avLst/>
          </a:prstGeom>
        </p:spPr>
      </p:pic>
      <p:sp>
        <p:nvSpPr>
          <p:cNvPr id="10" name="TextBox 9">
            <a:extLst>
              <a:ext uri="{FF2B5EF4-FFF2-40B4-BE49-F238E27FC236}">
                <a16:creationId xmlns:a16="http://schemas.microsoft.com/office/drawing/2014/main" id="{C7D00B4E-FBEF-8006-86A1-16FD8C3AE6C9}"/>
              </a:ext>
            </a:extLst>
          </p:cNvPr>
          <p:cNvSpPr txBox="1"/>
          <p:nvPr/>
        </p:nvSpPr>
        <p:spPr>
          <a:xfrm>
            <a:off x="6096000" y="1439177"/>
            <a:ext cx="6117336" cy="4924425"/>
          </a:xfrm>
          <a:prstGeom prst="rect">
            <a:avLst/>
          </a:prstGeom>
          <a:noFill/>
        </p:spPr>
        <p:txBody>
          <a:bodyPr wrap="square">
            <a:spAutoFit/>
          </a:bodyPr>
          <a:lstStyle/>
          <a:p>
            <a:r>
              <a:rPr lang="en-US" sz="1600" b="1"/>
              <a:t>Authorization Check</a:t>
            </a:r>
            <a:r>
              <a:rPr lang="en-US" sz="1600"/>
              <a:t>:  Before any deletion occurs, the method verifies whether the user has the necessary permissions using </a:t>
            </a:r>
            <a:r>
              <a:rPr lang="en-US" sz="1600" err="1">
                <a:latin typeface="Courier New" panose="02070309020205020404" pitchFamily="49" charset="0"/>
              </a:rPr>
              <a:t>user_credentials.has_license_auth</a:t>
            </a:r>
            <a:r>
              <a:rPr lang="en-US" sz="1600">
                <a:latin typeface="Courier New" panose="02070309020205020404" pitchFamily="49" charset="0"/>
              </a:rPr>
              <a:t>()</a:t>
            </a:r>
            <a:r>
              <a:rPr lang="en-US" sz="1600"/>
              <a:t>. If the user is not authorized, the operation is aborted and an error is logged.</a:t>
            </a:r>
          </a:p>
          <a:p>
            <a:endParaRPr lang="en-US" sz="1600" b="1"/>
          </a:p>
          <a:p>
            <a:r>
              <a:rPr lang="en-US" sz="1600" b="1"/>
              <a:t>License ID Extraction</a:t>
            </a:r>
            <a:r>
              <a:rPr lang="en-US" sz="1600"/>
              <a:t>:  The method retrieves the </a:t>
            </a:r>
            <a:r>
              <a:rPr lang="en-US" sz="1600" err="1">
                <a:latin typeface="Courier New" panose="02070309020205020404" pitchFamily="49" charset="0"/>
              </a:rPr>
              <a:t>licenseID</a:t>
            </a:r>
            <a:r>
              <a:rPr lang="en-US" sz="1600"/>
              <a:t> from the cleaned user request data using </a:t>
            </a:r>
            <a:r>
              <a:rPr lang="en-US" sz="1600" err="1">
                <a:latin typeface="Courier New" panose="02070309020205020404" pitchFamily="49" charset="0"/>
              </a:rPr>
              <a:t>user_request.get_clean_data_dict</a:t>
            </a:r>
            <a:r>
              <a:rPr lang="en-US" sz="1600">
                <a:latin typeface="Courier New" panose="02070309020205020404" pitchFamily="49" charset="0"/>
              </a:rPr>
              <a:t>()</a:t>
            </a:r>
            <a:r>
              <a:rPr lang="en-US" sz="1600"/>
              <a:t>.</a:t>
            </a:r>
          </a:p>
          <a:p>
            <a:endParaRPr lang="en-US" sz="1600" b="1"/>
          </a:p>
          <a:p>
            <a:r>
              <a:rPr lang="en-US" sz="1600" b="1"/>
              <a:t>Deletion Execution</a:t>
            </a:r>
            <a:r>
              <a:rPr lang="en-US" sz="1600"/>
              <a:t>:  A SQL </a:t>
            </a:r>
            <a:r>
              <a:rPr lang="en-US" sz="1600">
                <a:latin typeface="Courier New" panose="02070309020205020404" pitchFamily="49" charset="0"/>
              </a:rPr>
              <a:t>DELETE</a:t>
            </a:r>
            <a:r>
              <a:rPr lang="en-US" sz="1600"/>
              <a:t> statement is executed to remove the license record from the </a:t>
            </a:r>
            <a:r>
              <a:rPr lang="en-US" sz="1600">
                <a:latin typeface="Courier New" panose="02070309020205020404" pitchFamily="49" charset="0"/>
              </a:rPr>
              <a:t>License</a:t>
            </a:r>
            <a:r>
              <a:rPr lang="en-US" sz="1600"/>
              <a:t> table using the provided ID. If the database schema is configured with </a:t>
            </a:r>
            <a:r>
              <a:rPr lang="en-US" sz="1600">
                <a:latin typeface="Courier New" panose="02070309020205020404" pitchFamily="49" charset="0"/>
              </a:rPr>
              <a:t>ON DELETE CASCADE</a:t>
            </a:r>
            <a:r>
              <a:rPr lang="en-US" sz="1600"/>
              <a:t>, related records in child tables (e.g., </a:t>
            </a:r>
            <a:r>
              <a:rPr lang="en-US" sz="1600">
                <a:latin typeface="Courier New" panose="02070309020205020404" pitchFamily="49" charset="0"/>
              </a:rPr>
              <a:t>Cost</a:t>
            </a:r>
            <a:r>
              <a:rPr lang="en-US" sz="1600"/>
              <a:t>, </a:t>
            </a:r>
            <a:r>
              <a:rPr lang="en-US" sz="1600" err="1">
                <a:latin typeface="Courier New" panose="02070309020205020404" pitchFamily="49" charset="0"/>
              </a:rPr>
              <a:t>ExpirationDate</a:t>
            </a:r>
            <a:r>
              <a:rPr lang="en-US" sz="1600"/>
              <a:t>, </a:t>
            </a:r>
            <a:r>
              <a:rPr lang="en-US" sz="1600" err="1">
                <a:latin typeface="Courier New" panose="02070309020205020404" pitchFamily="49" charset="0"/>
              </a:rPr>
              <a:t>GeogRestriction</a:t>
            </a:r>
            <a:r>
              <a:rPr lang="en-US" sz="1600"/>
              <a:t>) will be automatically removed.</a:t>
            </a:r>
          </a:p>
          <a:p>
            <a:endParaRPr lang="en-US" sz="1600" b="1"/>
          </a:p>
          <a:p>
            <a:r>
              <a:rPr lang="en-US" sz="1600" b="1"/>
              <a:t>Transaction Management</a:t>
            </a:r>
            <a:r>
              <a:rPr lang="en-US" sz="1600"/>
              <a:t>: If the deletion is successful, the changes are committed to the database. If an error occurs (either a MySQL-specific error or a general code exception), the transaction is rolled back to maintain data integrity, and the error is logged.</a:t>
            </a:r>
          </a:p>
          <a:p>
            <a:endParaRPr lang="en-US" sz="1000"/>
          </a:p>
        </p:txBody>
      </p:sp>
      <p:sp>
        <p:nvSpPr>
          <p:cNvPr id="7" name="TextBox 6">
            <a:extLst>
              <a:ext uri="{FF2B5EF4-FFF2-40B4-BE49-F238E27FC236}">
                <a16:creationId xmlns:a16="http://schemas.microsoft.com/office/drawing/2014/main" id="{3820D32E-DD2F-4382-B12D-3D12834ECA96}"/>
              </a:ext>
            </a:extLst>
          </p:cNvPr>
          <p:cNvSpPr txBox="1"/>
          <p:nvPr/>
        </p:nvSpPr>
        <p:spPr>
          <a:xfrm>
            <a:off x="331750" y="551090"/>
            <a:ext cx="8684260" cy="784830"/>
          </a:xfrm>
          <a:prstGeom prst="rect">
            <a:avLst/>
          </a:prstGeom>
          <a:noFill/>
        </p:spPr>
        <p:txBody>
          <a:bodyPr wrap="square" lIns="91440" tIns="45720" rIns="91440" bIns="45720" rtlCol="0" anchor="t">
            <a:spAutoFit/>
          </a:bodyPr>
          <a:lstStyle/>
          <a:p>
            <a:r>
              <a:rPr lang="en-US" sz="4500" b="1" cap="all" spc="700">
                <a:latin typeface="+mj-lt"/>
                <a:ea typeface="+mj-ea"/>
                <a:cs typeface="+mj-cs"/>
              </a:rPr>
              <a:t>DAO </a:t>
            </a:r>
            <a:r>
              <a:rPr lang="en-US" sz="4500" b="1" cap="all" spc="700" err="1">
                <a:latin typeface="+mj-lt"/>
                <a:ea typeface="+mj-ea"/>
                <a:cs typeface="+mj-cs"/>
              </a:rPr>
              <a:t>DeleteLicense</a:t>
            </a:r>
            <a:endParaRPr lang="en-US" sz="4500" b="1" cap="all" spc="700">
              <a:latin typeface="+mj-lt"/>
              <a:ea typeface="+mj-ea"/>
              <a:cs typeface="+mj-cs"/>
            </a:endParaRPr>
          </a:p>
        </p:txBody>
      </p:sp>
    </p:spTree>
    <p:extLst>
      <p:ext uri="{BB962C8B-B14F-4D97-AF65-F5344CB8AC3E}">
        <p14:creationId xmlns:p14="http://schemas.microsoft.com/office/powerpoint/2010/main" val="293583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5C5025B-1226-DBAD-ACC1-31FC204915A0}"/>
              </a:ext>
            </a:extLst>
          </p:cNvPr>
          <p:cNvSpPr txBox="1">
            <a:spLocks/>
          </p:cNvSpPr>
          <p:nvPr/>
        </p:nvSpPr>
        <p:spPr>
          <a:xfrm>
            <a:off x="3459545" y="2676953"/>
            <a:ext cx="5273876" cy="149620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9600" dirty="0">
                <a:solidFill>
                  <a:schemeClr val="bg1"/>
                </a:solidFill>
              </a:rPr>
              <a:t>Takeaways</a:t>
            </a:r>
          </a:p>
        </p:txBody>
      </p:sp>
    </p:spTree>
    <p:extLst>
      <p:ext uri="{BB962C8B-B14F-4D97-AF65-F5344CB8AC3E}">
        <p14:creationId xmlns:p14="http://schemas.microsoft.com/office/powerpoint/2010/main" val="3257016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296A9-74A9-8C5D-0E23-76B599BE352C}"/>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EA8D0AC-393B-9DB6-271D-CEBAFEBEC94B}"/>
              </a:ext>
            </a:extLst>
          </p:cNvPr>
          <p:cNvSpPr txBox="1">
            <a:spLocks/>
          </p:cNvSpPr>
          <p:nvPr/>
        </p:nvSpPr>
        <p:spPr>
          <a:xfrm>
            <a:off x="4308355" y="2696244"/>
            <a:ext cx="3576256" cy="14576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9600">
                <a:solidFill>
                  <a:schemeClr val="bg1"/>
                </a:solidFill>
              </a:rPr>
              <a:t>Q &amp; A</a:t>
            </a:r>
          </a:p>
        </p:txBody>
      </p:sp>
    </p:spTree>
    <p:extLst>
      <p:ext uri="{BB962C8B-B14F-4D97-AF65-F5344CB8AC3E}">
        <p14:creationId xmlns:p14="http://schemas.microsoft.com/office/powerpoint/2010/main" val="1011689848"/>
      </p:ext>
    </p:extLst>
  </p:cSld>
  <p:clrMapOvr>
    <a:masterClrMapping/>
  </p:clrMapOvr>
</p:sld>
</file>

<file path=ppt/theme/theme1.xml><?xml version="1.0" encoding="utf-8"?>
<a:theme xmlns:a="http://schemas.openxmlformats.org/drawingml/2006/main" name="Dividend">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Widescreen</PresentationFormat>
  <Slides>15</Slides>
  <Notes>7</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lpstr>
      <vt:lpstr>Team Red</vt:lpstr>
      <vt:lpstr>Product Overview &amp; 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License DAO</vt:lpstr>
      <vt:lpstr>PowerPoint Presentation</vt:lpstr>
      <vt:lpstr>PowerPoint Presentation</vt:lpstr>
      <vt:lpstr>PowerPoint Presentation</vt:lpstr>
      <vt:lpstr>PowerPoint Presentation</vt:lpstr>
    </vt:vector>
  </TitlesOfParts>
  <Company>Rocket Software,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Tyson Lucas</dc:creator>
  <cp:revision>166</cp:revision>
  <dcterms:created xsi:type="dcterms:W3CDTF">2025-11-06T16:47:06Z</dcterms:created>
  <dcterms:modified xsi:type="dcterms:W3CDTF">2025-11-07T17:19:44Z</dcterms:modified>
</cp:coreProperties>
</file>